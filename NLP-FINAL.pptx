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7F673C-1400-495C-9F21-5595BEBB7667}">
  <a:tblStyle styleId="{A37F673C-1400-495C-9F21-5595BEBB766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71c21547a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71c21547a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71c21547a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71c21547a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71c21547a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71c21547a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1" marL="914400" rtl="0" algn="l">
              <a:lnSpc>
                <a:spcPct val="115000"/>
              </a:lnSpc>
              <a:spcBef>
                <a:spcPts val="0"/>
              </a:spcBef>
              <a:spcAft>
                <a:spcPts val="0"/>
              </a:spcAft>
              <a:buClr>
                <a:schemeClr val="dk1"/>
              </a:buClr>
              <a:buSzPts val="1300"/>
              <a:buFont typeface="Courier New"/>
              <a:buAutoNum type="alphaLcPeriod"/>
            </a:pPr>
            <a:r>
              <a:rPr lang="en-GB" sz="1300">
                <a:solidFill>
                  <a:schemeClr val="dk1"/>
                </a:solidFill>
                <a:latin typeface="Calibri"/>
                <a:ea typeface="Calibri"/>
                <a:cs typeface="Calibri"/>
                <a:sym typeface="Calibri"/>
              </a:rPr>
              <a:t>Phương pháp này còn một số hạn chế như kích thước từ điển, các từ hiếm nằm ngoài kho từ điển dẫn đến kết quả mô hình chưa cao.</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ourier New"/>
              <a:buAutoNum type="alphaLcPeriod"/>
            </a:pPr>
            <a:r>
              <a:rPr lang="en-GB" sz="1300">
                <a:solidFill>
                  <a:schemeClr val="dk1"/>
                </a:solidFill>
                <a:latin typeface="Calibri"/>
                <a:ea typeface="Calibri"/>
                <a:cs typeface="Calibri"/>
                <a:sym typeface="Calibri"/>
              </a:rPr>
              <a:t>Để khắc phục hạn chế này chúng ta thường dùng phương pháp tokenize theo k‎</a:t>
            </a:r>
            <a:r>
              <a:rPr lang="en-GB" sz="1300">
                <a:solidFill>
                  <a:schemeClr val="dk1"/>
                </a:solidFill>
                <a:highlight>
                  <a:srgbClr val="FFFFFF"/>
                </a:highlight>
                <a:latin typeface="Calibri"/>
                <a:ea typeface="Calibri"/>
                <a:cs typeface="Calibri"/>
                <a:sym typeface="Calibri"/>
              </a:rPr>
              <a:t>ý tự vì hầu hết các từ đều được ghép bởi các ký tự lại với nhau. Tuy nhiên các k‎ý tự sẽ không có nghĩa nếu đứng độc lập. Mô hình fasttext là mô hình sử dụng phương pháp này.</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alibri"/>
              <a:buAutoNum type="alphaLcPeriod"/>
            </a:pPr>
            <a:r>
              <a:t/>
            </a:r>
            <a:endParaRPr sz="13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71c21547a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71c21547a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lang="en-GB"/>
              <a:t>First, it splits all words on whitespaces.</a:t>
            </a:r>
            <a:endParaRPr/>
          </a:p>
          <a:p>
            <a:pPr indent="-298450" lvl="0" marL="457200" rtl="0" algn="l">
              <a:lnSpc>
                <a:spcPct val="115000"/>
              </a:lnSpc>
              <a:spcBef>
                <a:spcPts val="0"/>
              </a:spcBef>
              <a:spcAft>
                <a:spcPts val="0"/>
              </a:spcAft>
              <a:buClr>
                <a:schemeClr val="dk1"/>
              </a:buClr>
              <a:buSzPts val="1100"/>
              <a:buAutoNum type="arabicPeriod"/>
            </a:pPr>
            <a:r>
              <a:rPr lang="en-GB"/>
              <a:t>Then it separates the prefixes from these words.</a:t>
            </a:r>
            <a:endParaRPr/>
          </a:p>
          <a:p>
            <a:pPr indent="-298450" lvl="0" marL="457200" rtl="0" algn="l">
              <a:lnSpc>
                <a:spcPct val="115000"/>
              </a:lnSpc>
              <a:spcBef>
                <a:spcPts val="0"/>
              </a:spcBef>
              <a:spcAft>
                <a:spcPts val="0"/>
              </a:spcAft>
              <a:buClr>
                <a:schemeClr val="dk1"/>
              </a:buClr>
              <a:buSzPts val="1100"/>
              <a:buAutoNum type="arabicPeriod"/>
            </a:pPr>
            <a:r>
              <a:rPr lang="en-GB"/>
              <a:t>Then it repeats the same with exceptions and suffixes.</a:t>
            </a:r>
            <a:endParaRPr/>
          </a:p>
          <a:p>
            <a:pPr indent="-298450" lvl="0" marL="457200" rtl="0" algn="l">
              <a:lnSpc>
                <a:spcPct val="115000"/>
              </a:lnSpc>
              <a:spcBef>
                <a:spcPts val="0"/>
              </a:spcBef>
              <a:spcAft>
                <a:spcPts val="0"/>
              </a:spcAft>
              <a:buClr>
                <a:schemeClr val="dk1"/>
              </a:buClr>
              <a:buSzPts val="1100"/>
              <a:buAutoNum type="arabicPeriod"/>
            </a:pPr>
            <a:r>
              <a:rPr lang="en-GB"/>
              <a:t>In the end, what you get are correct tokens.</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71c21547a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71c21547a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71c21547a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71c21547a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71c21547a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71c21547a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71c21547a1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71c21547a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71c21547a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71c21547a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71c21547a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71c21547a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71c21547a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71c21547a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71c21547a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71c21547a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71c21547a1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71c21547a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71c21547a1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71c21547a1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71c21547a1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71c21547a1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com/binhvq/news-corpus" TargetMode="External"/><Relationship Id="rId4" Type="http://schemas.openxmlformats.org/officeDocument/2006/relationships/hyperlink" Target="https://drive.google.com/open?id=1ypvEoGRNWrNLmW246RtBm9iMyKXm_2B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huggingface.co/docs/transformers/en/model_doc/bartpho"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Nhập môn xử lý </a:t>
            </a:r>
            <a:endParaRPr/>
          </a:p>
          <a:p>
            <a:pPr indent="0" lvl="0" marL="0" rtl="0" algn="ctr">
              <a:spcBef>
                <a:spcPts val="0"/>
              </a:spcBef>
              <a:spcAft>
                <a:spcPts val="0"/>
              </a:spcAft>
              <a:buNone/>
            </a:pPr>
            <a:r>
              <a:rPr lang="en-GB"/>
              <a:t>ngôn ngữ tự nhiên</a:t>
            </a:r>
            <a:endParaRPr/>
          </a:p>
        </p:txBody>
      </p:sp>
      <p:sp>
        <p:nvSpPr>
          <p:cNvPr id="55" name="Google Shape;55;p13"/>
          <p:cNvSpPr txBox="1"/>
          <p:nvPr>
            <p:ph idx="1" type="subTitle"/>
          </p:nvPr>
        </p:nvSpPr>
        <p:spPr>
          <a:xfrm>
            <a:off x="254675" y="3697400"/>
            <a:ext cx="8520600" cy="11610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GB"/>
              <a:t>Giảng viên hướng dẫn: TS. Lê Anh Cường </a:t>
            </a:r>
            <a:endParaRPr/>
          </a:p>
          <a:p>
            <a:pPr indent="0" lvl="0" marL="0" rtl="0" algn="l">
              <a:spcBef>
                <a:spcPts val="0"/>
              </a:spcBef>
              <a:spcAft>
                <a:spcPts val="0"/>
              </a:spcAft>
              <a:buNone/>
            </a:pPr>
            <a:r>
              <a:rPr lang="en-GB"/>
              <a:t>52100876 - Trần Thành Đại</a:t>
            </a:r>
            <a:endParaRPr/>
          </a:p>
          <a:p>
            <a:pPr indent="0" lvl="0" marL="0" rtl="0" algn="l">
              <a:spcBef>
                <a:spcPts val="0"/>
              </a:spcBef>
              <a:spcAft>
                <a:spcPts val="0"/>
              </a:spcAft>
              <a:buNone/>
            </a:pPr>
            <a:r>
              <a:rPr lang="en-GB"/>
              <a:t>52100908 - Phạm Khánh Linh</a:t>
            </a:r>
            <a:endParaRPr/>
          </a:p>
          <a:p>
            <a:pPr indent="0" lvl="0" marL="0" rtl="0" algn="l">
              <a:spcBef>
                <a:spcPts val="0"/>
              </a:spcBef>
              <a:spcAft>
                <a:spcPts val="0"/>
              </a:spcAft>
              <a:buNone/>
            </a:pPr>
            <a:r>
              <a:rPr lang="en-GB"/>
              <a:t>521000050 - Mai Chí Kha</a:t>
            </a:r>
            <a:endParaRPr/>
          </a:p>
        </p:txBody>
      </p:sp>
      <p:pic>
        <p:nvPicPr>
          <p:cNvPr id="56" name="Google Shape;56;p13"/>
          <p:cNvPicPr preferRelativeResize="0"/>
          <p:nvPr/>
        </p:nvPicPr>
        <p:blipFill>
          <a:blip r:embed="rId3">
            <a:alphaModFix/>
          </a:blip>
          <a:stretch>
            <a:fillRect/>
          </a:stretch>
        </p:blipFill>
        <p:spPr>
          <a:xfrm>
            <a:off x="-102625" y="-752700"/>
            <a:ext cx="2075750" cy="2075750"/>
          </a:xfrm>
          <a:prstGeom prst="rect">
            <a:avLst/>
          </a:prstGeom>
          <a:noFill/>
          <a:ln>
            <a:noFill/>
          </a:ln>
        </p:spPr>
      </p:pic>
      <p:sp>
        <p:nvSpPr>
          <p:cNvPr id="57" name="Google Shape;57;p13"/>
          <p:cNvSpPr txBox="1"/>
          <p:nvPr>
            <p:ph idx="1" type="subTitle"/>
          </p:nvPr>
        </p:nvSpPr>
        <p:spPr>
          <a:xfrm>
            <a:off x="311700" y="2294500"/>
            <a:ext cx="8520600" cy="1161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3600"/>
              <a:t>FINAL PROJECT</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Tóm tắt chủ đề</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Bài 1: Tìm hiểu và trình bày về các biểu diễn token theo phương pháp BPE (Byte-Pair Encoding).</a:t>
            </a:r>
            <a:endParaRPr/>
          </a:p>
          <a:p>
            <a:pPr indent="-317500" lvl="1" marL="914400" rtl="0" algn="l">
              <a:spcBef>
                <a:spcPts val="0"/>
              </a:spcBef>
              <a:spcAft>
                <a:spcPts val="0"/>
              </a:spcAft>
              <a:buSzPts val="1400"/>
              <a:buChar char="○"/>
            </a:pPr>
            <a:r>
              <a:rPr lang="en-GB"/>
              <a:t>Cho các ví dụ về mô hình có dùng tokenizer theo BPE</a:t>
            </a:r>
            <a:endParaRPr/>
          </a:p>
          <a:p>
            <a:pPr indent="-317500" lvl="1" marL="914400" rtl="0" algn="l">
              <a:spcBef>
                <a:spcPts val="0"/>
              </a:spcBef>
              <a:spcAft>
                <a:spcPts val="0"/>
              </a:spcAft>
              <a:buSzPts val="1400"/>
              <a:buChar char="○"/>
            </a:pPr>
            <a:r>
              <a:rPr lang="en-GB"/>
              <a:t>So sánh 2 mô hình trên một bài toán cụ thể nào đó, có sử dụng BPE và không có sử dụng BPE</a:t>
            </a:r>
            <a:endParaRPr/>
          </a:p>
          <a:p>
            <a:pPr indent="-342900" lvl="0" marL="457200" rtl="0" algn="l">
              <a:spcBef>
                <a:spcPts val="0"/>
              </a:spcBef>
              <a:spcAft>
                <a:spcPts val="0"/>
              </a:spcAft>
              <a:buSzPts val="1800"/>
              <a:buChar char="●"/>
            </a:pPr>
            <a:r>
              <a:rPr lang="en-GB"/>
              <a:t>Bài 2b: Tìm hiểu và xây dựng bài toán phát hiện lỗi và sửa lỗi chính tả theo tiếp cận học sâu</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BPE: Tại sao phải có Byte-Pair Encoding?</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Các vấn đề trước khi có BPE</a:t>
            </a:r>
            <a:endParaRPr/>
          </a:p>
          <a:p>
            <a:pPr indent="-342900" lvl="0" marL="914400" rtl="0" algn="l">
              <a:spcBef>
                <a:spcPts val="0"/>
              </a:spcBef>
              <a:spcAft>
                <a:spcPts val="0"/>
              </a:spcAft>
              <a:buSzPts val="1800"/>
              <a:buChar char="●"/>
            </a:pPr>
            <a:r>
              <a:rPr lang="en-GB" sz="1400"/>
              <a:t>Trước khi có sự xuất hiện của phương pháp BPE, các mô hình NLP gặp một số khó khăn trong quá trình làm việc như sau:</a:t>
            </a:r>
            <a:endParaRPr sz="1400"/>
          </a:p>
          <a:p>
            <a:pPr indent="-317500" lvl="1" marL="1371600" rtl="0" algn="l">
              <a:spcBef>
                <a:spcPts val="0"/>
              </a:spcBef>
              <a:spcAft>
                <a:spcPts val="0"/>
              </a:spcAft>
              <a:buSzPts val="1400"/>
              <a:buChar char="○"/>
            </a:pPr>
            <a:r>
              <a:rPr lang="en-GB"/>
              <a:t>Vấn đề từ chưa biết:</a:t>
            </a:r>
            <a:endParaRPr/>
          </a:p>
          <a:p>
            <a:pPr indent="-317500" lvl="2" marL="1828800" rtl="0" algn="l">
              <a:spcBef>
                <a:spcPts val="0"/>
              </a:spcBef>
              <a:spcAft>
                <a:spcPts val="0"/>
              </a:spcAft>
              <a:buSzPts val="1400"/>
              <a:buChar char="■"/>
            </a:pPr>
            <a:r>
              <a:rPr lang="en-GB"/>
              <a:t>Các mô hình truyền thống sử dụng một từ điển cố định, không thể xử lý được các từ mới hoặc từ hiếm. Do đó nhiều từ không thể được biểu diễn và xử lý bởi mô hình.</a:t>
            </a:r>
            <a:endParaRPr/>
          </a:p>
          <a:p>
            <a:pPr indent="-317500" lvl="2" marL="1828800" rtl="0" algn="l">
              <a:spcBef>
                <a:spcPts val="0"/>
              </a:spcBef>
              <a:spcAft>
                <a:spcPts val="0"/>
              </a:spcAft>
              <a:buSzPts val="1400"/>
              <a:buChar char="■"/>
            </a:pPr>
            <a:r>
              <a:rPr lang="en-GB"/>
              <a:t>Tính khái quát thấp:</a:t>
            </a:r>
            <a:endParaRPr/>
          </a:p>
          <a:p>
            <a:pPr indent="-317500" lvl="3" marL="2286000" rtl="0" algn="l">
              <a:spcBef>
                <a:spcPts val="0"/>
              </a:spcBef>
              <a:spcAft>
                <a:spcPts val="0"/>
              </a:spcAft>
              <a:buSzPts val="1400"/>
              <a:buChar char="●"/>
            </a:pPr>
            <a:r>
              <a:rPr lang="en-GB"/>
              <a:t>Các mô hình truyền thống thường chỉ được những </a:t>
            </a:r>
            <a:r>
              <a:rPr lang="en-GB"/>
              <a:t>mẩu</a:t>
            </a:r>
            <a:r>
              <a:rPr lang="en-GB"/>
              <a:t> cục bộ. Khả năng khái quát sang các dữ liệu mới bị hạn chế.</a:t>
            </a:r>
            <a:endParaRPr/>
          </a:p>
          <a:p>
            <a:pPr indent="-317500" lvl="2" marL="1828800" rtl="0" algn="l">
              <a:spcBef>
                <a:spcPts val="0"/>
              </a:spcBef>
              <a:spcAft>
                <a:spcPts val="0"/>
              </a:spcAft>
              <a:buSzPts val="1400"/>
              <a:buChar char="■"/>
            </a:pPr>
            <a:r>
              <a:rPr lang="en-GB"/>
              <a:t>Kích thước từ vựng lớn:</a:t>
            </a:r>
            <a:endParaRPr/>
          </a:p>
          <a:p>
            <a:pPr indent="-317500" lvl="3" marL="2286000" rtl="0" algn="l">
              <a:spcBef>
                <a:spcPts val="0"/>
              </a:spcBef>
              <a:spcAft>
                <a:spcPts val="0"/>
              </a:spcAft>
              <a:buSzPts val="1400"/>
              <a:buChar char="●"/>
            </a:pPr>
            <a:r>
              <a:rPr lang="en-GB"/>
              <a:t>Trong quá khứ, kích thước từ vựng cũng là một vấn đề cần giải quyết.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Quá trình Tokenize ngôn ngữ</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AutoNum type="arabicPeriod"/>
            </a:pPr>
            <a:r>
              <a:rPr lang="en-GB" sz="1500">
                <a:solidFill>
                  <a:schemeClr val="dk1"/>
                </a:solidFill>
              </a:rPr>
              <a:t>Quá trình Tokenize là quá trình chúng ta chia nhỏ một chuỗi văn bản thành các đơn vị nhỏ hơn gọi là token. Token này có thể là từ, k‎ tự hoặc các subword units của văn bản. Quá trình này giúp mô hình hiểu được cấu trúc và ‎ nghĩa của từng phần nhỏ trong văn bản.</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lang="en-GB" sz="1500">
                <a:solidFill>
                  <a:schemeClr val="dk1"/>
                </a:solidFill>
              </a:rPr>
              <a:t>Trong NLP có một số kiểu tokenize như sau:</a:t>
            </a:r>
            <a:endParaRPr sz="1500">
              <a:solidFill>
                <a:schemeClr val="dk1"/>
              </a:solidFill>
            </a:endParaRPr>
          </a:p>
          <a:p>
            <a:pPr indent="-323850" lvl="1" marL="914400" rtl="0" algn="l">
              <a:lnSpc>
                <a:spcPct val="115000"/>
              </a:lnSpc>
              <a:spcBef>
                <a:spcPts val="0"/>
              </a:spcBef>
              <a:spcAft>
                <a:spcPts val="0"/>
              </a:spcAft>
              <a:buClr>
                <a:schemeClr val="dk1"/>
              </a:buClr>
              <a:buSzPts val="1500"/>
              <a:buAutoNum type="alphaLcPeriod"/>
            </a:pPr>
            <a:r>
              <a:rPr lang="en-GB" sz="1500">
                <a:solidFill>
                  <a:schemeClr val="dk1"/>
                </a:solidFill>
              </a:rPr>
              <a:t>Tokenize theo từ: là quá trình chia nhỏ văn bản thành các đơn vị là từ riêng biệt. Các token này được ngăn cách bởi khoảng trắng hoặc dấu câu. </a:t>
            </a:r>
            <a:endParaRPr sz="1500">
              <a:solidFill>
                <a:schemeClr val="dk1"/>
              </a:solidFill>
            </a:endParaRPr>
          </a:p>
          <a:p>
            <a:pPr indent="-323850" lvl="1" marL="914400" rtl="0" algn="l">
              <a:lnSpc>
                <a:spcPct val="115000"/>
              </a:lnSpc>
              <a:spcBef>
                <a:spcPts val="0"/>
              </a:spcBef>
              <a:spcAft>
                <a:spcPts val="0"/>
              </a:spcAft>
              <a:buClr>
                <a:schemeClr val="dk1"/>
              </a:buClr>
              <a:buSzPts val="1500"/>
              <a:buAutoNum type="alphaLcPeriod"/>
            </a:pPr>
            <a:r>
              <a:rPr lang="en-GB" sz="1500">
                <a:solidFill>
                  <a:schemeClr val="dk1"/>
                </a:solidFill>
              </a:rPr>
              <a:t>Tokenize theo k</a:t>
            </a:r>
            <a:r>
              <a:rPr lang="en-GB" sz="1500">
                <a:solidFill>
                  <a:schemeClr val="dk1"/>
                </a:solidFill>
                <a:highlight>
                  <a:srgbClr val="FFFFFF"/>
                </a:highlight>
              </a:rPr>
              <a:t>ý</a:t>
            </a:r>
            <a:r>
              <a:rPr lang="en-GB" sz="1500">
                <a:solidFill>
                  <a:schemeClr val="dk1"/>
                </a:solidFill>
              </a:rPr>
              <a:t>‎ tự: Vì khi chúng ta tokenize theo từ còn một số hạn chế như: kích thước của từ điển quá lớn </a:t>
            </a:r>
            <a:r>
              <a:rPr lang="en-GB" sz="1500">
                <a:solidFill>
                  <a:schemeClr val="dk1"/>
                </a:solidFill>
              </a:rPr>
              <a:t>dẫn</a:t>
            </a:r>
            <a:r>
              <a:rPr lang="en-GB" sz="1500">
                <a:solidFill>
                  <a:schemeClr val="dk1"/>
                </a:solidFill>
              </a:rPr>
              <a:t> đến việc lãng phí tài nguyên trong quá trình tính toán. </a:t>
            </a:r>
            <a:endParaRPr sz="1500">
              <a:solidFill>
                <a:schemeClr val="dk1"/>
              </a:solidFill>
            </a:endParaRPr>
          </a:p>
          <a:p>
            <a:pPr indent="-323850" lvl="1" marL="914400" rtl="0" algn="l">
              <a:lnSpc>
                <a:spcPct val="115000"/>
              </a:lnSpc>
              <a:spcBef>
                <a:spcPts val="0"/>
              </a:spcBef>
              <a:spcAft>
                <a:spcPts val="0"/>
              </a:spcAft>
              <a:buClr>
                <a:schemeClr val="dk1"/>
              </a:buClr>
              <a:buSzPts val="1500"/>
              <a:buAutoNum type="alphaLcPeriod"/>
            </a:pPr>
            <a:r>
              <a:rPr lang="en-GB" sz="1500">
                <a:solidFill>
                  <a:schemeClr val="dk1"/>
                </a:solidFill>
              </a:rPr>
              <a:t>Tokenize dựa trên subword units: Để khắc phục các hạn chế của các phương pháp đi trước, phương pháp subword tokenization này đã tách chuỗi văn bản thành các đơn vị nhỏ hơn gọi là subword, subword này có thể </a:t>
            </a:r>
            <a:r>
              <a:rPr lang="en-GB" sz="1500">
                <a:solidFill>
                  <a:schemeClr val="dk1"/>
                </a:solidFill>
              </a:rPr>
              <a:t>nhỏ</a:t>
            </a:r>
            <a:r>
              <a:rPr lang="en-GB" sz="1500">
                <a:solidFill>
                  <a:schemeClr val="dk1"/>
                </a:solidFill>
              </a:rPr>
              <a:t> hơn từ và lớn hơn k‎</a:t>
            </a:r>
            <a:r>
              <a:rPr lang="en-GB" sz="1500">
                <a:solidFill>
                  <a:schemeClr val="dk1"/>
                </a:solidFill>
                <a:highlight>
                  <a:srgbClr val="FFFFFF"/>
                </a:highlight>
              </a:rPr>
              <a:t>ý tự. Nhờ vậy nó vừa giúp giảm được kích từ vựng vừa giúp giữ được ‎nghĩa của từ.</a:t>
            </a:r>
            <a:endParaRPr sz="1500">
              <a:solidFill>
                <a:schemeClr val="dk1"/>
              </a:solidFill>
            </a:endParaRPr>
          </a:p>
          <a:p>
            <a:pPr indent="0" lvl="0" marL="0" rtl="0" algn="l">
              <a:spcBef>
                <a:spcPts val="0"/>
              </a:spcBef>
              <a:spcAft>
                <a:spcPts val="1200"/>
              </a:spcAft>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Quá trình Tokenize ngôn ngữ</a:t>
            </a:r>
            <a:endParaRPr/>
          </a:p>
          <a:p>
            <a:pPr indent="0" lvl="0" marL="0" rtl="0" algn="l">
              <a:spcBef>
                <a:spcPts val="0"/>
              </a:spcBef>
              <a:spcAft>
                <a:spcPts val="0"/>
              </a:spcAft>
              <a:buNone/>
            </a:pPr>
            <a:r>
              <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Minh họa các giai đoạn tokenize của thư viện spaCy</a:t>
            </a:r>
            <a:endParaRPr/>
          </a:p>
        </p:txBody>
      </p:sp>
      <p:pic>
        <p:nvPicPr>
          <p:cNvPr id="82" name="Google Shape;82;p17"/>
          <p:cNvPicPr preferRelativeResize="0"/>
          <p:nvPr/>
        </p:nvPicPr>
        <p:blipFill>
          <a:blip r:embed="rId3">
            <a:alphaModFix/>
          </a:blip>
          <a:stretch>
            <a:fillRect/>
          </a:stretch>
        </p:blipFill>
        <p:spPr>
          <a:xfrm>
            <a:off x="450600" y="1555350"/>
            <a:ext cx="6771601" cy="3524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2500"/>
              <a:t>Sự xuất hiện của BPE – Byte Pair Encoding</a:t>
            </a:r>
            <a:endParaRPr sz="2500"/>
          </a:p>
        </p:txBody>
      </p:sp>
      <p:sp>
        <p:nvSpPr>
          <p:cNvPr id="88" name="Google Shape;88;p18"/>
          <p:cNvSpPr txBox="1"/>
          <p:nvPr>
            <p:ph idx="1" type="body"/>
          </p:nvPr>
        </p:nvSpPr>
        <p:spPr>
          <a:xfrm>
            <a:off x="130650" y="1173775"/>
            <a:ext cx="4983000" cy="3416400"/>
          </a:xfrm>
          <a:prstGeom prst="rect">
            <a:avLst/>
          </a:prstGeom>
        </p:spPr>
        <p:txBody>
          <a:bodyPr anchorCtr="0" anchor="t" bIns="91425" lIns="91425" spcFirstLastPara="1" rIns="91425" wrap="square" tIns="91425">
            <a:normAutofit lnSpcReduction="20000"/>
          </a:bodyPr>
          <a:lstStyle/>
          <a:p>
            <a:pPr indent="-361950" lvl="0" marL="457200" rtl="0" algn="l">
              <a:lnSpc>
                <a:spcPct val="115000"/>
              </a:lnSpc>
              <a:spcBef>
                <a:spcPts val="0"/>
              </a:spcBef>
              <a:spcAft>
                <a:spcPts val="0"/>
              </a:spcAft>
              <a:buSzPts val="2100"/>
              <a:buChar char="●"/>
            </a:pPr>
            <a:r>
              <a:rPr lang="en-GB" sz="1600">
                <a:solidFill>
                  <a:schemeClr val="dk1"/>
                </a:solidFill>
                <a:latin typeface="Calibri"/>
                <a:ea typeface="Calibri"/>
                <a:cs typeface="Calibri"/>
                <a:sym typeface="Calibri"/>
              </a:rPr>
              <a:t>Phương pháp BPE thuộc loại tokenization dựa trên subword units. Trong BPE, chuỗi văn bản được chia thành các phần nhỏ hơn gọi là subword units.</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GB" sz="1600">
                <a:solidFill>
                  <a:schemeClr val="dk1"/>
                </a:solidFill>
                <a:latin typeface="Calibri"/>
                <a:ea typeface="Calibri"/>
                <a:cs typeface="Calibri"/>
                <a:sym typeface="Calibri"/>
              </a:rPr>
              <a:t> Cụ thể là, phương pháp này sẽ chú trọng vào việc tìm ra các cặp subword units phổ biến nhất trong tập dữ liệu và replace chúng bằng các token đặc biệt.</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Times New Roman"/>
              <a:buChar char="●"/>
            </a:pPr>
            <a:r>
              <a:rPr lang="en-GB" sz="1600">
                <a:solidFill>
                  <a:schemeClr val="dk1"/>
                </a:solidFill>
                <a:latin typeface="Calibri"/>
                <a:ea typeface="Calibri"/>
                <a:cs typeface="Calibri"/>
                <a:sym typeface="Calibri"/>
              </a:rPr>
              <a:t>Quá trình này giúp giảm kích thước của từ vựng bằng cách thay thế các từ phổ biến và các từ hiếm hoặc đặc biệt bằng các token ngắn hơn. Điều này giúp tăng hiệu suất và giúp tổng quát hóa của mô hình NLP. Bên cạnh đó, quá trình này cũng giúp giảm tài nguyên tiêu thụ.</a:t>
            </a:r>
            <a:endParaRPr sz="1600">
              <a:solidFill>
                <a:schemeClr val="dk1"/>
              </a:solidFill>
              <a:latin typeface="Calibri"/>
              <a:ea typeface="Calibri"/>
              <a:cs typeface="Calibri"/>
              <a:sym typeface="Calibri"/>
            </a:endParaRPr>
          </a:p>
        </p:txBody>
      </p:sp>
      <p:pic>
        <p:nvPicPr>
          <p:cNvPr id="89" name="Google Shape;89;p18"/>
          <p:cNvPicPr preferRelativeResize="0"/>
          <p:nvPr/>
        </p:nvPicPr>
        <p:blipFill>
          <a:blip r:embed="rId3">
            <a:alphaModFix/>
          </a:blip>
          <a:stretch>
            <a:fillRect/>
          </a:stretch>
        </p:blipFill>
        <p:spPr>
          <a:xfrm>
            <a:off x="5234100" y="1297925"/>
            <a:ext cx="3646925" cy="2731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Cách BPE hoạt động</a:t>
            </a:r>
            <a:endParaRPr/>
          </a:p>
        </p:txBody>
      </p:sp>
      <p:sp>
        <p:nvSpPr>
          <p:cNvPr id="95" name="Google Shape;95;p19"/>
          <p:cNvSpPr txBox="1"/>
          <p:nvPr>
            <p:ph idx="1" type="body"/>
          </p:nvPr>
        </p:nvSpPr>
        <p:spPr>
          <a:xfrm>
            <a:off x="270700" y="1017725"/>
            <a:ext cx="8520600" cy="3416400"/>
          </a:xfrm>
          <a:prstGeom prst="rect">
            <a:avLst/>
          </a:prstGeom>
        </p:spPr>
        <p:txBody>
          <a:bodyPr anchorCtr="0" anchor="t" bIns="91425" lIns="91425" spcFirstLastPara="1" rIns="91425" wrap="square" tIns="91425">
            <a:noAutofit/>
          </a:bodyPr>
          <a:lstStyle/>
          <a:p>
            <a:pPr indent="-330200" lvl="0" marL="685800" rtl="0" algn="l">
              <a:lnSpc>
                <a:spcPct val="115000"/>
              </a:lnSpc>
              <a:spcBef>
                <a:spcPts val="0"/>
              </a:spcBef>
              <a:spcAft>
                <a:spcPts val="0"/>
              </a:spcAft>
              <a:buClr>
                <a:schemeClr val="dk1"/>
              </a:buClr>
              <a:buSzPts val="1600"/>
              <a:buFont typeface="Arial"/>
              <a:buChar char="-"/>
            </a:pPr>
            <a:r>
              <a:rPr lang="en-GB" sz="1600">
                <a:solidFill>
                  <a:schemeClr val="dk1"/>
                </a:solidFill>
              </a:rPr>
              <a:t>Cách hoạt động của BPE dựa trên việc tính toán tần suất xuất hiện của subwords cùng nhau và tìm cách gộp chung lại dựa vào tần suất này. Việc gộp các subwords này sẽ được tiến hành lặp đi lặp lại cho đến khi không còn subword để gộp nữa. Kết thúc quá trình ta sẽ thu được tập các subword cho toàn bộ văn bản.</a:t>
            </a:r>
            <a:endParaRPr sz="1600">
              <a:solidFill>
                <a:schemeClr val="dk1"/>
              </a:solidFill>
            </a:endParaRPr>
          </a:p>
          <a:p>
            <a:pPr indent="-330200" lvl="0" marL="685800" rtl="0" algn="l">
              <a:lnSpc>
                <a:spcPct val="115000"/>
              </a:lnSpc>
              <a:spcBef>
                <a:spcPts val="0"/>
              </a:spcBef>
              <a:spcAft>
                <a:spcPts val="0"/>
              </a:spcAft>
              <a:buClr>
                <a:schemeClr val="dk1"/>
              </a:buClr>
              <a:buSzPts val="1600"/>
              <a:buFont typeface="Arial"/>
              <a:buChar char="-"/>
            </a:pPr>
            <a:r>
              <a:rPr lang="en-GB" sz="1600">
                <a:solidFill>
                  <a:schemeClr val="dk1"/>
                </a:solidFill>
              </a:rPr>
              <a:t>Chi tiết quá trình này như sau:</a:t>
            </a:r>
            <a:endParaRPr sz="1600">
              <a:solidFill>
                <a:schemeClr val="dk1"/>
              </a:solidFill>
            </a:endParaRPr>
          </a:p>
          <a:p>
            <a:pPr indent="-330200" lvl="1" marL="1143000" rtl="0" algn="l">
              <a:lnSpc>
                <a:spcPct val="115000"/>
              </a:lnSpc>
              <a:spcBef>
                <a:spcPts val="0"/>
              </a:spcBef>
              <a:spcAft>
                <a:spcPts val="0"/>
              </a:spcAft>
              <a:buClr>
                <a:schemeClr val="dk1"/>
              </a:buClr>
              <a:buSzPts val="1600"/>
              <a:buFont typeface="Arial"/>
              <a:buChar char="o"/>
            </a:pPr>
            <a:r>
              <a:rPr lang="en-GB" sz="1600">
                <a:solidFill>
                  <a:schemeClr val="dk1"/>
                </a:solidFill>
              </a:rPr>
              <a:t>Bước 1: Khởi tạo từ vựng với tất cả các k</a:t>
            </a:r>
            <a:r>
              <a:rPr lang="en-GB" sz="1600">
                <a:solidFill>
                  <a:schemeClr val="dk1"/>
                </a:solidFill>
                <a:highlight>
                  <a:srgbClr val="FFFFFF"/>
                </a:highlight>
              </a:rPr>
              <a:t>ý tự trong văn bản.</a:t>
            </a:r>
            <a:endParaRPr sz="1600">
              <a:solidFill>
                <a:schemeClr val="dk1"/>
              </a:solidFill>
            </a:endParaRPr>
          </a:p>
          <a:p>
            <a:pPr indent="-330200" lvl="1" marL="1143000" rtl="0" algn="l">
              <a:lnSpc>
                <a:spcPct val="115000"/>
              </a:lnSpc>
              <a:spcBef>
                <a:spcPts val="0"/>
              </a:spcBef>
              <a:spcAft>
                <a:spcPts val="0"/>
              </a:spcAft>
              <a:buClr>
                <a:schemeClr val="dk1"/>
              </a:buClr>
              <a:buSzPts val="1600"/>
              <a:buFont typeface="Arial"/>
              <a:buChar char="o"/>
            </a:pPr>
            <a:r>
              <a:rPr lang="en-GB" sz="1600">
                <a:solidFill>
                  <a:schemeClr val="dk1"/>
                </a:solidFill>
                <a:highlight>
                  <a:srgbClr val="FFFFFF"/>
                </a:highlight>
              </a:rPr>
              <a:t>Bước 2: Tính tần số xuất hiện của các </a:t>
            </a:r>
            <a:r>
              <a:rPr lang="en-GB" sz="1600">
                <a:solidFill>
                  <a:schemeClr val="dk1"/>
                </a:solidFill>
                <a:highlight>
                  <a:srgbClr val="FFFFFF"/>
                </a:highlight>
              </a:rPr>
              <a:t>ký</a:t>
            </a:r>
            <a:r>
              <a:rPr lang="en-GB" sz="1600">
                <a:solidFill>
                  <a:schemeClr val="dk1"/>
                </a:solidFill>
                <a:highlight>
                  <a:srgbClr val="FFFFFF"/>
                </a:highlight>
              </a:rPr>
              <a:t> tự trong kho văn bản.</a:t>
            </a:r>
            <a:endParaRPr sz="1600">
              <a:solidFill>
                <a:schemeClr val="dk1"/>
              </a:solidFill>
            </a:endParaRPr>
          </a:p>
          <a:p>
            <a:pPr indent="-330200" lvl="1" marL="1143000" rtl="0" algn="l">
              <a:lnSpc>
                <a:spcPct val="115000"/>
              </a:lnSpc>
              <a:spcBef>
                <a:spcPts val="0"/>
              </a:spcBef>
              <a:spcAft>
                <a:spcPts val="0"/>
              </a:spcAft>
              <a:buClr>
                <a:schemeClr val="dk1"/>
              </a:buClr>
              <a:buSzPts val="1600"/>
              <a:buFont typeface="Arial"/>
              <a:buChar char="o"/>
            </a:pPr>
            <a:r>
              <a:rPr lang="en-GB" sz="1600">
                <a:solidFill>
                  <a:schemeClr val="dk1"/>
                </a:solidFill>
              </a:rPr>
              <a:t>Bước 3: Lặp lại các bước sau đến khi đặt ki</a:t>
            </a:r>
            <a:endParaRPr sz="1600">
              <a:solidFill>
                <a:schemeClr val="dk1"/>
              </a:solidFill>
            </a:endParaRPr>
          </a:p>
          <a:p>
            <a:pPr indent="-330200" lvl="2" marL="1600200" rtl="0" algn="l">
              <a:lnSpc>
                <a:spcPct val="115000"/>
              </a:lnSpc>
              <a:spcBef>
                <a:spcPts val="0"/>
              </a:spcBef>
              <a:spcAft>
                <a:spcPts val="0"/>
              </a:spcAft>
              <a:buClr>
                <a:schemeClr val="dk1"/>
              </a:buClr>
              <a:buSzPts val="1600"/>
              <a:buFont typeface="Arial"/>
              <a:buChar char="▪"/>
            </a:pPr>
            <a:r>
              <a:rPr lang="en-GB" sz="1600">
                <a:solidFill>
                  <a:schemeClr val="dk1"/>
                </a:solidFill>
              </a:rPr>
              <a:t>Tìm cặp k</a:t>
            </a:r>
            <a:r>
              <a:rPr lang="en-GB" sz="1600">
                <a:solidFill>
                  <a:schemeClr val="dk1"/>
                </a:solidFill>
                <a:highlight>
                  <a:srgbClr val="FFFFFF"/>
                </a:highlight>
              </a:rPr>
              <a:t>ý</a:t>
            </a:r>
            <a:r>
              <a:rPr lang="en-GB" sz="1600">
                <a:solidFill>
                  <a:schemeClr val="dk1"/>
                </a:solidFill>
              </a:rPr>
              <a:t> tự có tần suất xuất hiện thường xuyên nhất trong văn bản.</a:t>
            </a:r>
            <a:endParaRPr sz="1600">
              <a:solidFill>
                <a:schemeClr val="dk1"/>
              </a:solidFill>
            </a:endParaRPr>
          </a:p>
          <a:p>
            <a:pPr indent="-330200" lvl="2" marL="1600200" rtl="0" algn="l">
              <a:lnSpc>
                <a:spcPct val="115000"/>
              </a:lnSpc>
              <a:spcBef>
                <a:spcPts val="0"/>
              </a:spcBef>
              <a:spcAft>
                <a:spcPts val="0"/>
              </a:spcAft>
              <a:buClr>
                <a:schemeClr val="dk1"/>
              </a:buClr>
              <a:buSzPts val="1600"/>
              <a:buFont typeface="Arial"/>
              <a:buChar char="▪"/>
            </a:pPr>
            <a:r>
              <a:rPr lang="en-GB" sz="1600">
                <a:solidFill>
                  <a:schemeClr val="dk1"/>
                </a:solidFill>
              </a:rPr>
              <a:t>Hợp nhất cặp ký</a:t>
            </a:r>
            <a:r>
              <a:rPr lang="en-GB" sz="1600">
                <a:solidFill>
                  <a:schemeClr val="dk1"/>
                </a:solidFill>
                <a:highlight>
                  <a:srgbClr val="FFFFFF"/>
                </a:highlight>
              </a:rPr>
              <a:t> tự để tạo nên một subword mới.</a:t>
            </a:r>
            <a:endParaRPr sz="1600">
              <a:solidFill>
                <a:schemeClr val="dk1"/>
              </a:solidFill>
            </a:endParaRPr>
          </a:p>
          <a:p>
            <a:pPr indent="-330200" lvl="2" marL="1600200" rtl="0" algn="l">
              <a:lnSpc>
                <a:spcPct val="115000"/>
              </a:lnSpc>
              <a:spcBef>
                <a:spcPts val="0"/>
              </a:spcBef>
              <a:spcAft>
                <a:spcPts val="0"/>
              </a:spcAft>
              <a:buClr>
                <a:schemeClr val="dk1"/>
              </a:buClr>
              <a:buSzPts val="1600"/>
              <a:buFont typeface="Arial"/>
              <a:buChar char="▪"/>
            </a:pPr>
            <a:r>
              <a:rPr lang="en-GB" sz="1600">
                <a:solidFill>
                  <a:schemeClr val="dk1"/>
                </a:solidFill>
              </a:rPr>
              <a:t>Cập nhật số lượng tần số xuất hiện của tất cả k</a:t>
            </a:r>
            <a:r>
              <a:rPr lang="en-GB" sz="1600">
                <a:solidFill>
                  <a:schemeClr val="dk1"/>
                </a:solidFill>
                <a:highlight>
                  <a:srgbClr val="FFFFFF"/>
                </a:highlight>
              </a:rPr>
              <a:t>ý tự có chứa cặp đã hợp nhất</a:t>
            </a:r>
            <a:endParaRPr sz="1600">
              <a:solidFill>
                <a:schemeClr val="dk1"/>
              </a:solidFill>
            </a:endParaRPr>
          </a:p>
          <a:p>
            <a:pPr indent="-330200" lvl="2" marL="1600200" rtl="0" algn="l">
              <a:lnSpc>
                <a:spcPct val="115000"/>
              </a:lnSpc>
              <a:spcBef>
                <a:spcPts val="0"/>
              </a:spcBef>
              <a:spcAft>
                <a:spcPts val="0"/>
              </a:spcAft>
              <a:buClr>
                <a:schemeClr val="dk1"/>
              </a:buClr>
              <a:buSzPts val="1600"/>
              <a:buFont typeface="Arial"/>
              <a:buChar char="▪"/>
            </a:pPr>
            <a:r>
              <a:rPr lang="en-GB" sz="1600">
                <a:solidFill>
                  <a:schemeClr val="dk1"/>
                </a:solidFill>
              </a:rPr>
              <a:t>Thêm subword mới vào từ vựng</a:t>
            </a:r>
            <a:endParaRPr sz="1600">
              <a:solidFill>
                <a:schemeClr val="dk1"/>
              </a:solidFill>
            </a:endParaRPr>
          </a:p>
          <a:p>
            <a:pPr indent="0" lvl="0" marL="0" rtl="0" algn="l">
              <a:lnSpc>
                <a:spcPct val="115000"/>
              </a:lnSpc>
              <a:spcBef>
                <a:spcPts val="0"/>
              </a:spcBef>
              <a:spcAft>
                <a:spcPts val="0"/>
              </a:spcAft>
              <a:buNone/>
            </a:pPr>
            <a:r>
              <a:t/>
            </a:r>
            <a:endParaRPr sz="1600">
              <a:solidFill>
                <a:schemeClr val="dk1"/>
              </a:solidFill>
            </a:endParaRPr>
          </a:p>
          <a:p>
            <a:pPr indent="-330200" lvl="0" marL="685800" rtl="0" algn="l">
              <a:lnSpc>
                <a:spcPct val="115000"/>
              </a:lnSpc>
              <a:spcBef>
                <a:spcPts val="0"/>
              </a:spcBef>
              <a:spcAft>
                <a:spcPts val="0"/>
              </a:spcAft>
              <a:buClr>
                <a:schemeClr val="dk1"/>
              </a:buClr>
              <a:buSzPts val="1600"/>
              <a:buFont typeface="Times New Roman"/>
              <a:buChar char="-"/>
            </a:pPr>
            <a:r>
              <a:t/>
            </a:r>
            <a:endParaRPr sz="16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Cách BPE hoạt động - Ví dụ</a:t>
            </a:r>
            <a:endParaRPr/>
          </a:p>
          <a:p>
            <a:pPr indent="0" lvl="0" marL="0" rtl="0" algn="l">
              <a:spcBef>
                <a:spcPts val="0"/>
              </a:spcBef>
              <a:spcAft>
                <a:spcPts val="0"/>
              </a:spcAft>
              <a:buNone/>
            </a:pPr>
            <a:r>
              <a:t/>
            </a:r>
            <a:endParaRPr/>
          </a:p>
        </p:txBody>
      </p:sp>
      <p:sp>
        <p:nvSpPr>
          <p:cNvPr id="101" name="Google Shape;101;p20"/>
          <p:cNvSpPr txBox="1"/>
          <p:nvPr>
            <p:ph idx="1" type="body"/>
          </p:nvPr>
        </p:nvSpPr>
        <p:spPr>
          <a:xfrm>
            <a:off x="504475" y="777100"/>
            <a:ext cx="3616500" cy="3343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t/>
            </a:r>
            <a:endParaRPr sz="1600">
              <a:solidFill>
                <a:schemeClr val="dk1"/>
              </a:solidFill>
            </a:endParaRPr>
          </a:p>
          <a:p>
            <a:pPr indent="0" lvl="0" marL="0" rtl="0" algn="l">
              <a:lnSpc>
                <a:spcPct val="95000"/>
              </a:lnSpc>
              <a:spcBef>
                <a:spcPts val="0"/>
              </a:spcBef>
              <a:spcAft>
                <a:spcPts val="0"/>
              </a:spcAft>
              <a:buNone/>
            </a:pPr>
            <a:r>
              <a:rPr lang="en-GB" sz="1600">
                <a:solidFill>
                  <a:schemeClr val="dk1"/>
                </a:solidFill>
              </a:rPr>
              <a:t>Giả sử original corpus với tần suất xuất hiện của các từ gồm: “can”: 2, “mang”: 3, “fan”: 1, “camp”: 1.</a:t>
            </a:r>
            <a:endParaRPr sz="1600">
              <a:solidFill>
                <a:schemeClr val="dk1"/>
              </a:solidFill>
            </a:endParaRPr>
          </a:p>
          <a:p>
            <a:pPr indent="-330200" lvl="0" marL="457200" rtl="0" algn="l">
              <a:lnSpc>
                <a:spcPct val="95000"/>
              </a:lnSpc>
              <a:spcBef>
                <a:spcPts val="0"/>
              </a:spcBef>
              <a:spcAft>
                <a:spcPts val="0"/>
              </a:spcAft>
              <a:buClr>
                <a:schemeClr val="dk1"/>
              </a:buClr>
              <a:buSzPts val="1600"/>
              <a:buChar char="●"/>
            </a:pPr>
            <a:r>
              <a:rPr lang="en-GB" sz="1600">
                <a:solidFill>
                  <a:schemeClr val="dk1"/>
                </a:solidFill>
              </a:rPr>
              <a:t>Bước 1: Khởi tạo Vocabulary hiện tại: vocabulary = {‘c’,’ a’, ‘n’,’m’, ‘g’, ‘f’, ‘p’}</a:t>
            </a:r>
            <a:endParaRPr sz="1600">
              <a:solidFill>
                <a:schemeClr val="dk1"/>
              </a:solidFill>
            </a:endParaRPr>
          </a:p>
          <a:p>
            <a:pPr indent="-330200" lvl="0" marL="457200" rtl="0" algn="l">
              <a:lnSpc>
                <a:spcPct val="95000"/>
              </a:lnSpc>
              <a:spcBef>
                <a:spcPts val="0"/>
              </a:spcBef>
              <a:spcAft>
                <a:spcPts val="0"/>
              </a:spcAft>
              <a:buClr>
                <a:schemeClr val="dk1"/>
              </a:buClr>
              <a:buSzPts val="1600"/>
              <a:buChar char="●"/>
            </a:pPr>
            <a:r>
              <a:rPr lang="en-GB" sz="1600">
                <a:solidFill>
                  <a:schemeClr val="dk1"/>
                </a:solidFill>
              </a:rPr>
              <a:t>Bước 2: Tinh tần số của các ký</a:t>
            </a:r>
            <a:r>
              <a:rPr lang="en-GB" sz="1600">
                <a:solidFill>
                  <a:schemeClr val="dk1"/>
                </a:solidFill>
                <a:highlight>
                  <a:srgbClr val="FFFFFF"/>
                </a:highlight>
              </a:rPr>
              <a:t> tự: </a:t>
            </a:r>
            <a:endParaRPr sz="1600">
              <a:solidFill>
                <a:schemeClr val="dk1"/>
              </a:solidFill>
            </a:endParaRPr>
          </a:p>
          <a:p>
            <a:pPr indent="0" lvl="0" marL="0" rtl="0" algn="l">
              <a:lnSpc>
                <a:spcPct val="95000"/>
              </a:lnSpc>
              <a:spcBef>
                <a:spcPts val="0"/>
              </a:spcBef>
              <a:spcAft>
                <a:spcPts val="0"/>
              </a:spcAft>
              <a:buNone/>
            </a:pPr>
            <a:r>
              <a:t/>
            </a:r>
            <a:endParaRPr sz="1600">
              <a:solidFill>
                <a:schemeClr val="dk1"/>
              </a:solidFill>
            </a:endParaRPr>
          </a:p>
          <a:p>
            <a:pPr indent="0" lvl="0" marL="0" rtl="0" algn="l">
              <a:lnSpc>
                <a:spcPct val="95000"/>
              </a:lnSpc>
              <a:spcBef>
                <a:spcPts val="0"/>
              </a:spcBef>
              <a:spcAft>
                <a:spcPts val="1200"/>
              </a:spcAft>
              <a:buSzPts val="688"/>
              <a:buNone/>
            </a:pPr>
            <a:r>
              <a:t/>
            </a:r>
            <a:endParaRPr sz="1600"/>
          </a:p>
        </p:txBody>
      </p:sp>
      <p:graphicFrame>
        <p:nvGraphicFramePr>
          <p:cNvPr id="102" name="Google Shape;102;p20"/>
          <p:cNvGraphicFramePr/>
          <p:nvPr/>
        </p:nvGraphicFramePr>
        <p:xfrm>
          <a:off x="1358300" y="2848425"/>
          <a:ext cx="3000000" cy="3000000"/>
        </p:xfrm>
        <a:graphic>
          <a:graphicData uri="http://schemas.openxmlformats.org/drawingml/2006/table">
            <a:tbl>
              <a:tblPr>
                <a:noFill/>
                <a:tableStyleId>{A37F673C-1400-495C-9F21-5595BEBB7667}</a:tableStyleId>
              </a:tblPr>
              <a:tblGrid>
                <a:gridCol w="1135025"/>
                <a:gridCol w="1135025"/>
              </a:tblGrid>
              <a:tr h="550650">
                <a:tc>
                  <a:txBody>
                    <a:bodyPr/>
                    <a:lstStyle/>
                    <a:p>
                      <a:pPr indent="0" lvl="0" marL="0" rtl="0" algn="l">
                        <a:spcBef>
                          <a:spcPts val="0"/>
                        </a:spcBef>
                        <a:spcAft>
                          <a:spcPts val="0"/>
                        </a:spcAft>
                        <a:buNone/>
                      </a:pPr>
                      <a:r>
                        <a:rPr lang="en-GB"/>
                        <a:t>c, a, n</a:t>
                      </a:r>
                      <a:endParaRPr/>
                    </a:p>
                  </a:txBody>
                  <a:tcPr marT="91425" marB="91425" marR="91425" marL="91425"/>
                </a:tc>
                <a:tc>
                  <a:txBody>
                    <a:bodyPr/>
                    <a:lstStyle/>
                    <a:p>
                      <a:pPr indent="0" lvl="0" marL="0" rtl="0" algn="l">
                        <a:spcBef>
                          <a:spcPts val="0"/>
                        </a:spcBef>
                        <a:spcAft>
                          <a:spcPts val="0"/>
                        </a:spcAft>
                        <a:buNone/>
                      </a:pPr>
                      <a:r>
                        <a:rPr lang="en-GB"/>
                        <a:t>2</a:t>
                      </a:r>
                      <a:endParaRPr/>
                    </a:p>
                  </a:txBody>
                  <a:tcPr marT="91425" marB="91425" marR="91425" marL="91425"/>
                </a:tc>
              </a:tr>
              <a:tr h="636600">
                <a:tc>
                  <a:txBody>
                    <a:bodyPr/>
                    <a:lstStyle/>
                    <a:p>
                      <a:pPr indent="0" lvl="0" marL="0" rtl="0" algn="l">
                        <a:spcBef>
                          <a:spcPts val="0"/>
                        </a:spcBef>
                        <a:spcAft>
                          <a:spcPts val="0"/>
                        </a:spcAft>
                        <a:buNone/>
                      </a:pPr>
                      <a:r>
                        <a:rPr lang="en-GB"/>
                        <a:t>m ,a ,n, g</a:t>
                      </a:r>
                      <a:endParaRPr/>
                    </a:p>
                  </a:txBody>
                  <a:tcPr marT="91425" marB="91425" marR="91425" marL="91425"/>
                </a:tc>
                <a:tc>
                  <a:txBody>
                    <a:bodyPr/>
                    <a:lstStyle/>
                    <a:p>
                      <a:pPr indent="0" lvl="0" marL="0" rtl="0" algn="l">
                        <a:spcBef>
                          <a:spcPts val="0"/>
                        </a:spcBef>
                        <a:spcAft>
                          <a:spcPts val="0"/>
                        </a:spcAft>
                        <a:buNone/>
                      </a:pPr>
                      <a:r>
                        <a:rPr lang="en-GB"/>
                        <a:t>3</a:t>
                      </a:r>
                      <a:endParaRPr/>
                    </a:p>
                  </a:txBody>
                  <a:tcPr marT="91425" marB="91425" marR="91425" marL="91425"/>
                </a:tc>
              </a:tr>
              <a:tr h="471225">
                <a:tc>
                  <a:txBody>
                    <a:bodyPr/>
                    <a:lstStyle/>
                    <a:p>
                      <a:pPr indent="0" lvl="0" marL="0" rtl="0" algn="l">
                        <a:spcBef>
                          <a:spcPts val="0"/>
                        </a:spcBef>
                        <a:spcAft>
                          <a:spcPts val="0"/>
                        </a:spcAft>
                        <a:buNone/>
                      </a:pPr>
                      <a:r>
                        <a:rPr lang="en-GB"/>
                        <a:t>f, a, n</a:t>
                      </a:r>
                      <a:endParaRPr/>
                    </a:p>
                  </a:txBody>
                  <a:tcPr marT="91425" marB="91425" marR="91425" marL="91425"/>
                </a:tc>
                <a:tc>
                  <a:txBody>
                    <a:bodyPr/>
                    <a:lstStyle/>
                    <a:p>
                      <a:pPr indent="0" lvl="0" marL="0" rtl="0" algn="l">
                        <a:spcBef>
                          <a:spcPts val="0"/>
                        </a:spcBef>
                        <a:spcAft>
                          <a:spcPts val="0"/>
                        </a:spcAft>
                        <a:buNone/>
                      </a:pPr>
                      <a:r>
                        <a:rPr lang="en-GB"/>
                        <a:t>2</a:t>
                      </a:r>
                      <a:endParaRPr/>
                    </a:p>
                  </a:txBody>
                  <a:tcPr marT="91425" marB="91425" marR="91425" marL="91425"/>
                </a:tc>
              </a:tr>
              <a:tr h="636600">
                <a:tc>
                  <a:txBody>
                    <a:bodyPr/>
                    <a:lstStyle/>
                    <a:p>
                      <a:pPr indent="0" lvl="0" marL="0" rtl="0" algn="l">
                        <a:spcBef>
                          <a:spcPts val="0"/>
                        </a:spcBef>
                        <a:spcAft>
                          <a:spcPts val="0"/>
                        </a:spcAft>
                        <a:buNone/>
                      </a:pPr>
                      <a:r>
                        <a:rPr lang="en-GB"/>
                        <a:t>c, a, m, p</a:t>
                      </a:r>
                      <a:endParaRPr/>
                    </a:p>
                  </a:txBody>
                  <a:tcPr marT="91425" marB="91425" marR="91425" marL="91425"/>
                </a:tc>
                <a:tc>
                  <a:txBody>
                    <a:bodyPr/>
                    <a:lstStyle/>
                    <a:p>
                      <a:pPr indent="0" lvl="0" marL="0" rtl="0" algn="l">
                        <a:spcBef>
                          <a:spcPts val="0"/>
                        </a:spcBef>
                        <a:spcAft>
                          <a:spcPts val="0"/>
                        </a:spcAft>
                        <a:buNone/>
                      </a:pPr>
                      <a:r>
                        <a:rPr lang="en-GB"/>
                        <a:t>1</a:t>
                      </a:r>
                      <a:endParaRPr/>
                    </a:p>
                  </a:txBody>
                  <a:tcPr marT="91425" marB="91425" marR="91425" marL="91425"/>
                </a:tc>
              </a:tr>
            </a:tbl>
          </a:graphicData>
        </a:graphic>
      </p:graphicFrame>
      <p:sp>
        <p:nvSpPr>
          <p:cNvPr id="103" name="Google Shape;103;p20"/>
          <p:cNvSpPr txBox="1"/>
          <p:nvPr/>
        </p:nvSpPr>
        <p:spPr>
          <a:xfrm>
            <a:off x="4212200" y="895975"/>
            <a:ext cx="4321800" cy="38856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Clr>
                <a:schemeClr val="dk1"/>
              </a:buClr>
              <a:buSzPts val="1600"/>
              <a:buChar char="●"/>
            </a:pPr>
            <a:r>
              <a:rPr lang="en-GB" sz="1600">
                <a:solidFill>
                  <a:schemeClr val="dk1"/>
                </a:solidFill>
                <a:highlight>
                  <a:srgbClr val="FFFFFF"/>
                </a:highlight>
              </a:rPr>
              <a:t>Bước 3: lặp lại các bước sau thỏa kích thước kỳ vọng:</a:t>
            </a:r>
            <a:endParaRPr sz="1600">
              <a:solidFill>
                <a:schemeClr val="dk1"/>
              </a:solidFill>
              <a:highlight>
                <a:srgbClr val="FFFFFF"/>
              </a:highlight>
            </a:endParaRPr>
          </a:p>
          <a:p>
            <a:pPr indent="-330200" lvl="1" marL="914400" rtl="0" algn="just">
              <a:spcBef>
                <a:spcPts val="0"/>
              </a:spcBef>
              <a:spcAft>
                <a:spcPts val="0"/>
              </a:spcAft>
              <a:buClr>
                <a:schemeClr val="dk1"/>
              </a:buClr>
              <a:buSzPts val="1600"/>
              <a:buChar char="○"/>
            </a:pPr>
            <a:r>
              <a:rPr lang="en-GB" sz="1600">
                <a:solidFill>
                  <a:schemeClr val="dk1"/>
                </a:solidFill>
                <a:highlight>
                  <a:srgbClr val="FFFFFF"/>
                </a:highlight>
              </a:rPr>
              <a:t>Tìm cặp ký tự có tần suất xuất hiện nhiều nhất: ‘an’: 6 lần</a:t>
            </a:r>
            <a:endParaRPr sz="1600">
              <a:solidFill>
                <a:schemeClr val="dk1"/>
              </a:solidFill>
            </a:endParaRPr>
          </a:p>
          <a:p>
            <a:pPr indent="-330200" lvl="1" marL="914400" rtl="0" algn="just">
              <a:spcBef>
                <a:spcPts val="0"/>
              </a:spcBef>
              <a:spcAft>
                <a:spcPts val="0"/>
              </a:spcAft>
              <a:buClr>
                <a:schemeClr val="dk1"/>
              </a:buClr>
              <a:buSzPts val="1600"/>
              <a:buChar char="○"/>
            </a:pPr>
            <a:r>
              <a:rPr lang="en-GB" sz="1600">
                <a:solidFill>
                  <a:schemeClr val="dk1"/>
                </a:solidFill>
                <a:highlight>
                  <a:srgbClr val="FFFFFF"/>
                </a:highlight>
              </a:rPr>
              <a:t>Gộp cặp ký tự “an” để tạo new_subword “an”</a:t>
            </a:r>
            <a:endParaRPr sz="1600">
              <a:solidFill>
                <a:schemeClr val="dk1"/>
              </a:solidFill>
              <a:highlight>
                <a:srgbClr val="FFFFFF"/>
              </a:highlight>
            </a:endParaRPr>
          </a:p>
          <a:p>
            <a:pPr indent="-330200" lvl="1" marL="914400" rtl="0" algn="just">
              <a:spcBef>
                <a:spcPts val="0"/>
              </a:spcBef>
              <a:spcAft>
                <a:spcPts val="0"/>
              </a:spcAft>
              <a:buClr>
                <a:schemeClr val="dk1"/>
              </a:buClr>
              <a:buSzPts val="1600"/>
              <a:buChar char="○"/>
            </a:pPr>
            <a:r>
              <a:rPr lang="en-GB" sz="1600">
                <a:solidFill>
                  <a:schemeClr val="dk1"/>
                </a:solidFill>
                <a:highlight>
                  <a:srgbClr val="FFFFFF"/>
                </a:highlight>
              </a:rPr>
              <a:t>Cập nhật số lượng tần suất xuất hiện của các ký tự:	</a:t>
            </a:r>
            <a:endParaRPr sz="1600">
              <a:solidFill>
                <a:schemeClr val="dk1"/>
              </a:solidFill>
              <a:highlight>
                <a:srgbClr val="FFFFFF"/>
              </a:highlight>
            </a:endParaRPr>
          </a:p>
          <a:p>
            <a:pPr indent="0" lvl="0" marL="0" rtl="0" algn="just">
              <a:lnSpc>
                <a:spcPct val="100000"/>
              </a:lnSpc>
              <a:spcBef>
                <a:spcPts val="0"/>
              </a:spcBef>
              <a:spcAft>
                <a:spcPts val="0"/>
              </a:spcAft>
              <a:buNone/>
            </a:pPr>
            <a:r>
              <a:t/>
            </a:r>
            <a:endParaRPr sz="1600">
              <a:solidFill>
                <a:schemeClr val="dk1"/>
              </a:solidFill>
              <a:highlight>
                <a:srgbClr val="FFFFFF"/>
              </a:highlight>
            </a:endParaRPr>
          </a:p>
          <a:p>
            <a:pPr indent="0" lvl="0" marL="0" rtl="0" algn="just">
              <a:lnSpc>
                <a:spcPct val="100000"/>
              </a:lnSpc>
              <a:spcBef>
                <a:spcPts val="0"/>
              </a:spcBef>
              <a:spcAft>
                <a:spcPts val="0"/>
              </a:spcAft>
              <a:buNone/>
            </a:pPr>
            <a:r>
              <a:t/>
            </a:r>
            <a:endParaRPr sz="1600">
              <a:solidFill>
                <a:schemeClr val="dk1"/>
              </a:solidFill>
              <a:highlight>
                <a:srgbClr val="FFFFFF"/>
              </a:highlight>
            </a:endParaRPr>
          </a:p>
          <a:p>
            <a:pPr indent="0" lvl="0" marL="0" rtl="0" algn="just">
              <a:lnSpc>
                <a:spcPct val="100000"/>
              </a:lnSpc>
              <a:spcBef>
                <a:spcPts val="0"/>
              </a:spcBef>
              <a:spcAft>
                <a:spcPts val="0"/>
              </a:spcAft>
              <a:buNone/>
            </a:pPr>
            <a:r>
              <a:t/>
            </a:r>
            <a:endParaRPr sz="1600">
              <a:solidFill>
                <a:schemeClr val="dk1"/>
              </a:solidFill>
              <a:highlight>
                <a:srgbClr val="FFFFFF"/>
              </a:highlight>
            </a:endParaRPr>
          </a:p>
          <a:p>
            <a:pPr indent="0" lvl="0" marL="0" rtl="0" algn="just">
              <a:lnSpc>
                <a:spcPct val="100000"/>
              </a:lnSpc>
              <a:spcBef>
                <a:spcPts val="0"/>
              </a:spcBef>
              <a:spcAft>
                <a:spcPts val="0"/>
              </a:spcAft>
              <a:buNone/>
            </a:pPr>
            <a:r>
              <a:t/>
            </a:r>
            <a:endParaRPr sz="1600">
              <a:solidFill>
                <a:schemeClr val="dk1"/>
              </a:solidFill>
              <a:highlight>
                <a:srgbClr val="FFFFFF"/>
              </a:highlight>
            </a:endParaRPr>
          </a:p>
          <a:p>
            <a:pPr indent="0" lvl="0" marL="0" rtl="0" algn="just">
              <a:lnSpc>
                <a:spcPct val="100000"/>
              </a:lnSpc>
              <a:spcBef>
                <a:spcPts val="0"/>
              </a:spcBef>
              <a:spcAft>
                <a:spcPts val="0"/>
              </a:spcAft>
              <a:buNone/>
            </a:pPr>
            <a:r>
              <a:t/>
            </a:r>
            <a:endParaRPr sz="1600">
              <a:solidFill>
                <a:schemeClr val="dk1"/>
              </a:solidFill>
              <a:highlight>
                <a:srgbClr val="FFFFFF"/>
              </a:highlight>
            </a:endParaRPr>
          </a:p>
          <a:p>
            <a:pPr indent="0" lvl="0" marL="0" rtl="0" algn="just">
              <a:lnSpc>
                <a:spcPct val="100000"/>
              </a:lnSpc>
              <a:spcBef>
                <a:spcPts val="0"/>
              </a:spcBef>
              <a:spcAft>
                <a:spcPts val="0"/>
              </a:spcAft>
              <a:buNone/>
            </a:pPr>
            <a:r>
              <a:t/>
            </a:r>
            <a:endParaRPr sz="1600">
              <a:solidFill>
                <a:schemeClr val="dk1"/>
              </a:solidFill>
              <a:highlight>
                <a:srgbClr val="FFFFFF"/>
              </a:highlight>
            </a:endParaRPr>
          </a:p>
          <a:p>
            <a:pPr indent="-330200" lvl="1" marL="914400" rtl="0" algn="just">
              <a:lnSpc>
                <a:spcPct val="100000"/>
              </a:lnSpc>
              <a:spcBef>
                <a:spcPts val="0"/>
              </a:spcBef>
              <a:spcAft>
                <a:spcPts val="0"/>
              </a:spcAft>
              <a:buClr>
                <a:schemeClr val="dk1"/>
              </a:buClr>
              <a:buSzPts val="1600"/>
              <a:buChar char="○"/>
            </a:pPr>
            <a:r>
              <a:rPr lang="en-GB" sz="1600">
                <a:solidFill>
                  <a:schemeClr val="dk1"/>
                </a:solidFill>
              </a:rPr>
              <a:t>Cập nhật lại từ vựng: vocabulary = {‘c’,’ a’, ‘n’,’m’, ‘f’, ‘p’, ‘an’}</a:t>
            </a:r>
            <a:endParaRPr sz="1600">
              <a:solidFill>
                <a:schemeClr val="dk2"/>
              </a:solidFill>
            </a:endParaRPr>
          </a:p>
        </p:txBody>
      </p:sp>
      <p:graphicFrame>
        <p:nvGraphicFramePr>
          <p:cNvPr id="104" name="Google Shape;104;p20"/>
          <p:cNvGraphicFramePr/>
          <p:nvPr/>
        </p:nvGraphicFramePr>
        <p:xfrm>
          <a:off x="6988750" y="2722900"/>
          <a:ext cx="3000000" cy="3000000"/>
        </p:xfrm>
        <a:graphic>
          <a:graphicData uri="http://schemas.openxmlformats.org/drawingml/2006/table">
            <a:tbl>
              <a:tblPr>
                <a:noFill/>
                <a:tableStyleId>{A37F673C-1400-495C-9F21-5595BEBB7667}</a:tableStyleId>
              </a:tblPr>
              <a:tblGrid>
                <a:gridCol w="968150"/>
                <a:gridCol w="968150"/>
              </a:tblGrid>
              <a:tr h="417325">
                <a:tc>
                  <a:txBody>
                    <a:bodyPr/>
                    <a:lstStyle/>
                    <a:p>
                      <a:pPr indent="0" lvl="0" marL="0" rtl="0" algn="l">
                        <a:spcBef>
                          <a:spcPts val="0"/>
                        </a:spcBef>
                        <a:spcAft>
                          <a:spcPts val="0"/>
                        </a:spcAft>
                        <a:buNone/>
                      </a:pPr>
                      <a:r>
                        <a:rPr lang="en-GB"/>
                        <a:t>c, an</a:t>
                      </a:r>
                      <a:endParaRPr/>
                    </a:p>
                  </a:txBody>
                  <a:tcPr marT="91425" marB="91425" marR="91425" marL="91425"/>
                </a:tc>
                <a:tc>
                  <a:txBody>
                    <a:bodyPr/>
                    <a:lstStyle/>
                    <a:p>
                      <a:pPr indent="0" lvl="0" marL="0" rtl="0" algn="l">
                        <a:spcBef>
                          <a:spcPts val="0"/>
                        </a:spcBef>
                        <a:spcAft>
                          <a:spcPts val="0"/>
                        </a:spcAft>
                        <a:buNone/>
                      </a:pPr>
                      <a:r>
                        <a:rPr lang="en-GB"/>
                        <a:t>3</a:t>
                      </a:r>
                      <a:endParaRPr/>
                    </a:p>
                  </a:txBody>
                  <a:tcPr marT="91425" marB="91425" marR="91425" marL="91425"/>
                </a:tc>
              </a:tr>
              <a:tr h="458475">
                <a:tc>
                  <a:txBody>
                    <a:bodyPr/>
                    <a:lstStyle/>
                    <a:p>
                      <a:pPr indent="0" lvl="0" marL="0" rtl="0" algn="l">
                        <a:spcBef>
                          <a:spcPts val="0"/>
                        </a:spcBef>
                        <a:spcAft>
                          <a:spcPts val="0"/>
                        </a:spcAft>
                        <a:buNone/>
                      </a:pPr>
                      <a:r>
                        <a:rPr lang="en-GB"/>
                        <a:t>m,a n g</a:t>
                      </a:r>
                      <a:endParaRPr/>
                    </a:p>
                  </a:txBody>
                  <a:tcPr marT="91425" marB="91425" marR="91425" marL="91425"/>
                </a:tc>
                <a:tc>
                  <a:txBody>
                    <a:bodyPr/>
                    <a:lstStyle/>
                    <a:p>
                      <a:pPr indent="0" lvl="0" marL="0" rtl="0" algn="l">
                        <a:spcBef>
                          <a:spcPts val="0"/>
                        </a:spcBef>
                        <a:spcAft>
                          <a:spcPts val="0"/>
                        </a:spcAft>
                        <a:buNone/>
                      </a:pPr>
                      <a:r>
                        <a:rPr lang="en-GB"/>
                        <a:t>3</a:t>
                      </a:r>
                      <a:endParaRPr/>
                    </a:p>
                  </a:txBody>
                  <a:tcPr marT="91425" marB="91425" marR="91425" marL="91425"/>
                </a:tc>
              </a:tr>
              <a:tr h="417325">
                <a:tc>
                  <a:txBody>
                    <a:bodyPr/>
                    <a:lstStyle/>
                    <a:p>
                      <a:pPr indent="0" lvl="0" marL="0" rtl="0" algn="l">
                        <a:spcBef>
                          <a:spcPts val="0"/>
                        </a:spcBef>
                        <a:spcAft>
                          <a:spcPts val="0"/>
                        </a:spcAft>
                        <a:buNone/>
                      </a:pPr>
                      <a:r>
                        <a:rPr lang="en-GB"/>
                        <a:t>f, an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417325">
                <a:tc>
                  <a:txBody>
                    <a:bodyPr/>
                    <a:lstStyle/>
                    <a:p>
                      <a:pPr indent="0" lvl="0" marL="0" rtl="0" algn="l">
                        <a:spcBef>
                          <a:spcPts val="0"/>
                        </a:spcBef>
                        <a:spcAft>
                          <a:spcPts val="0"/>
                        </a:spcAft>
                        <a:buNone/>
                      </a:pPr>
                      <a:r>
                        <a:rPr lang="en-GB"/>
                        <a:t>c, a, m, p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Một số mô hình sử dụng BPE</a:t>
            </a:r>
            <a:endParaRPr/>
          </a:p>
        </p:txBody>
      </p:sp>
      <p:sp>
        <p:nvSpPr>
          <p:cNvPr id="110" name="Google Shape;110;p21"/>
          <p:cNvSpPr txBox="1"/>
          <p:nvPr>
            <p:ph idx="1" type="body"/>
          </p:nvPr>
        </p:nvSpPr>
        <p:spPr>
          <a:xfrm>
            <a:off x="311700" y="1152475"/>
            <a:ext cx="7501800" cy="3416400"/>
          </a:xfrm>
          <a:prstGeom prst="rect">
            <a:avLst/>
          </a:prstGeom>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Phương pháp Byte Pair Encoding (BPE) được sử dụng rộng rãi trong các mô hình ngôn ngữ tiên tiến nhờ khả năng giảm kích thước từ vựng và khả năng xử lý hiệu quả các từ không biết. Dưới đây là một số mô hình và hệ thống NLP nổi bật dã áp dụng BPE:</a:t>
            </a:r>
            <a:endParaRPr sz="1300">
              <a:solidFill>
                <a:schemeClr val="dk1"/>
              </a:solidFill>
            </a:endParaRPr>
          </a:p>
          <a:p>
            <a:pPr indent="0" lvl="0" marL="0" rtl="0" algn="l">
              <a:lnSpc>
                <a:spcPct val="115000"/>
              </a:lnSpc>
              <a:spcBef>
                <a:spcPts val="800"/>
              </a:spcBef>
              <a:spcAft>
                <a:spcPts val="0"/>
              </a:spcAft>
              <a:buNone/>
            </a:pPr>
            <a:r>
              <a:rPr b="1" lang="en-GB" sz="1300">
                <a:solidFill>
                  <a:schemeClr val="dk1"/>
                </a:solidFill>
              </a:rPr>
              <a:t>Transformer và các biến thể</a:t>
            </a:r>
            <a:endParaRPr b="1" sz="1300">
              <a:solidFill>
                <a:schemeClr val="dk1"/>
              </a:solidFill>
            </a:endParaRPr>
          </a:p>
          <a:p>
            <a:pPr indent="0" lvl="0" marL="701040" rtl="0" algn="l">
              <a:lnSpc>
                <a:spcPct val="115000"/>
              </a:lnSpc>
              <a:spcBef>
                <a:spcPts val="0"/>
              </a:spcBef>
              <a:spcAft>
                <a:spcPts val="0"/>
              </a:spcAft>
              <a:buClr>
                <a:schemeClr val="dk1"/>
              </a:buClr>
              <a:buSzPts val="1100"/>
              <a:buFont typeface="Arial"/>
              <a:buNone/>
            </a:pPr>
            <a:r>
              <a:rPr lang="en-GB" sz="1300">
                <a:solidFill>
                  <a:schemeClr val="dk1"/>
                </a:solidFill>
              </a:rPr>
              <a:t>Transformer, mô hình đã cách mạng hóa lĩnh vực NLP, thường sử dụng BPE trong các phiên bản khác nhau như BERT, GPT-2, GPT-3. Các mô hình này sử dụng BPE để đảm bảo chúng có thể xử lý một loạt các ngôn ngữ và từ vựng đa dạng một cách hiệu quả.</a:t>
            </a:r>
            <a:endParaRPr sz="1300">
              <a:solidFill>
                <a:schemeClr val="dk1"/>
              </a:solidFill>
            </a:endParaRPr>
          </a:p>
          <a:p>
            <a:pPr indent="-342900" lvl="0" marL="457200" rtl="0" algn="l">
              <a:lnSpc>
                <a:spcPct val="107916"/>
              </a:lnSpc>
              <a:spcBef>
                <a:spcPts val="0"/>
              </a:spcBef>
              <a:spcAft>
                <a:spcPts val="0"/>
              </a:spcAft>
              <a:buClr>
                <a:schemeClr val="dk1"/>
              </a:buClr>
              <a:buSzPts val="1800"/>
              <a:buChar char="●"/>
            </a:pPr>
            <a:r>
              <a:rPr lang="en-GB" sz="1300">
                <a:solidFill>
                  <a:schemeClr val="dk1"/>
                </a:solidFill>
              </a:rPr>
              <a:t>VD:</a:t>
            </a:r>
            <a:r>
              <a:rPr lang="en-GB" sz="1150">
                <a:solidFill>
                  <a:schemeClr val="dk1"/>
                </a:solidFill>
                <a:highlight>
                  <a:srgbClr val="FFFFFF"/>
                </a:highlight>
              </a:rPr>
              <a:t> </a:t>
            </a:r>
            <a:r>
              <a:rPr lang="en-GB" sz="1150">
                <a:solidFill>
                  <a:schemeClr val="dk1"/>
                </a:solidFill>
              </a:rPr>
              <a:t>Giả sử chúng ta có câu: "Tôi sẽ học Toán và sau đó đi chơi với bạn bè."</a:t>
            </a:r>
            <a:endParaRPr sz="1150">
              <a:solidFill>
                <a:schemeClr val="dk1"/>
              </a:solidFill>
            </a:endParaRPr>
          </a:p>
          <a:p>
            <a:pPr indent="0" lvl="0" marL="701040" rtl="0" algn="l">
              <a:lnSpc>
                <a:spcPct val="100000"/>
              </a:lnSpc>
              <a:spcBef>
                <a:spcPts val="800"/>
              </a:spcBef>
              <a:spcAft>
                <a:spcPts val="0"/>
              </a:spcAft>
              <a:buClr>
                <a:schemeClr val="dk1"/>
              </a:buClr>
              <a:buSzPts val="1100"/>
              <a:buFont typeface="Arial"/>
              <a:buNone/>
            </a:pPr>
            <a:r>
              <a:rPr lang="en-GB" sz="1150">
                <a:solidFill>
                  <a:schemeClr val="dk1"/>
                </a:solidFill>
              </a:rPr>
              <a:t>BERT sẽ chia câu này thành các subword units như sau:</a:t>
            </a:r>
            <a:endParaRPr sz="1150">
              <a:solidFill>
                <a:schemeClr val="dk1"/>
              </a:solidFill>
            </a:endParaRPr>
          </a:p>
          <a:p>
            <a:pPr indent="0" lvl="0" marL="701040" rtl="0" algn="l">
              <a:lnSpc>
                <a:spcPct val="100000"/>
              </a:lnSpc>
              <a:spcBef>
                <a:spcPts val="0"/>
              </a:spcBef>
              <a:spcAft>
                <a:spcPts val="0"/>
              </a:spcAft>
              <a:buNone/>
            </a:pPr>
            <a:r>
              <a:rPr lang="en-GB" sz="1150">
                <a:solidFill>
                  <a:schemeClr val="dk1"/>
                </a:solidFill>
              </a:rPr>
              <a:t>"Tôi", "sẽ", "học", "Toán", "và", "sau", "đó", "đi", "chơi", "với", "bạn", "bè".</a:t>
            </a:r>
            <a:endParaRPr sz="1150">
              <a:solidFill>
                <a:schemeClr val="dk1"/>
              </a:solidFill>
            </a:endParaRPr>
          </a:p>
          <a:p>
            <a:pPr indent="0" lvl="0" marL="701040" rtl="0" algn="l">
              <a:lnSpc>
                <a:spcPct val="100000"/>
              </a:lnSpc>
              <a:spcBef>
                <a:spcPts val="0"/>
              </a:spcBef>
              <a:spcAft>
                <a:spcPts val="0"/>
              </a:spcAft>
              <a:buClr>
                <a:schemeClr val="dk1"/>
              </a:buClr>
              <a:buSzPts val="1100"/>
              <a:buFont typeface="Arial"/>
              <a:buNone/>
            </a:pPr>
            <a:r>
              <a:t/>
            </a:r>
            <a:endParaRPr sz="1150">
              <a:solidFill>
                <a:schemeClr val="dk1"/>
              </a:solidFill>
            </a:endParaRPr>
          </a:p>
          <a:p>
            <a:pPr indent="0" lvl="0" marL="701040" rtl="0" algn="l">
              <a:lnSpc>
                <a:spcPct val="100000"/>
              </a:lnSpc>
              <a:spcBef>
                <a:spcPts val="0"/>
              </a:spcBef>
              <a:spcAft>
                <a:spcPts val="0"/>
              </a:spcAft>
              <a:buClr>
                <a:schemeClr val="dk1"/>
              </a:buClr>
              <a:buSzPts val="1100"/>
              <a:buFont typeface="Arial"/>
              <a:buNone/>
            </a:pPr>
            <a:r>
              <a:rPr lang="en-GB" sz="1150">
                <a:solidFill>
                  <a:schemeClr val="dk1"/>
                </a:solidFill>
              </a:rPr>
              <a:t>Nếu gặp câu mới: "Tôi hoán đổi 2 đáp án"</a:t>
            </a:r>
            <a:endParaRPr sz="1150">
              <a:solidFill>
                <a:schemeClr val="dk1"/>
              </a:solidFill>
            </a:endParaRPr>
          </a:p>
          <a:p>
            <a:pPr indent="0" lvl="0" marL="701040" rtl="0" algn="l">
              <a:lnSpc>
                <a:spcPct val="100000"/>
              </a:lnSpc>
              <a:spcBef>
                <a:spcPts val="0"/>
              </a:spcBef>
              <a:spcAft>
                <a:spcPts val="0"/>
              </a:spcAft>
              <a:buClr>
                <a:schemeClr val="dk1"/>
              </a:buClr>
              <a:buSzPts val="1100"/>
              <a:buFont typeface="Arial"/>
              <a:buNone/>
            </a:pPr>
            <a:r>
              <a:t/>
            </a:r>
            <a:endParaRPr sz="1150">
              <a:solidFill>
                <a:schemeClr val="dk1"/>
              </a:solidFill>
            </a:endParaRPr>
          </a:p>
          <a:p>
            <a:pPr indent="0" lvl="0" marL="701040" rtl="0" algn="l">
              <a:lnSpc>
                <a:spcPct val="100000"/>
              </a:lnSpc>
              <a:spcBef>
                <a:spcPts val="0"/>
              </a:spcBef>
              <a:spcAft>
                <a:spcPts val="0"/>
              </a:spcAft>
              <a:buClr>
                <a:schemeClr val="dk1"/>
              </a:buClr>
              <a:buSzPts val="1100"/>
              <a:buFont typeface="Arial"/>
              <a:buNone/>
            </a:pPr>
            <a:r>
              <a:rPr lang="en-GB" sz="1150">
                <a:solidFill>
                  <a:schemeClr val="dk1"/>
                </a:solidFill>
              </a:rPr>
              <a:t>"Tôi", "hoán", "đổi", "2", "đáp", "án".</a:t>
            </a:r>
            <a:endParaRPr sz="1150">
              <a:solidFill>
                <a:schemeClr val="dk1"/>
              </a:solidFill>
            </a:endParaRPr>
          </a:p>
          <a:p>
            <a:pPr indent="0" lvl="0" marL="701040" rtl="0" algn="l">
              <a:lnSpc>
                <a:spcPct val="100000"/>
              </a:lnSpc>
              <a:spcBef>
                <a:spcPts val="0"/>
              </a:spcBef>
              <a:spcAft>
                <a:spcPts val="0"/>
              </a:spcAft>
              <a:buClr>
                <a:schemeClr val="dk1"/>
              </a:buClr>
              <a:buSzPts val="1100"/>
              <a:buFont typeface="Arial"/>
              <a:buNone/>
            </a:pPr>
            <a:r>
              <a:rPr lang="en-GB" sz="1150">
                <a:solidFill>
                  <a:schemeClr val="dk1"/>
                </a:solidFill>
              </a:rPr>
              <a:t>Subword units "hoán" và "án" được tạo ra, giúp mô hình hiểu nghĩa của từ mới "hoán đổi".</a:t>
            </a:r>
            <a:endParaRPr sz="1150">
              <a:solidFill>
                <a:schemeClr val="dk1"/>
              </a:solidFill>
            </a:endParaRPr>
          </a:p>
          <a:p>
            <a:pPr indent="0" lvl="0" marL="0" rtl="0" algn="l">
              <a:spcBef>
                <a:spcPts val="0"/>
              </a:spcBef>
              <a:spcAft>
                <a:spcPts val="1200"/>
              </a:spcAft>
              <a:buNone/>
            </a:pPr>
            <a:r>
              <a:t/>
            </a:r>
            <a:endParaRPr/>
          </a:p>
        </p:txBody>
      </p:sp>
      <p:pic>
        <p:nvPicPr>
          <p:cNvPr id="111" name="Google Shape;111;p21"/>
          <p:cNvPicPr preferRelativeResize="0"/>
          <p:nvPr/>
        </p:nvPicPr>
        <p:blipFill>
          <a:blip r:embed="rId3">
            <a:alphaModFix/>
          </a:blip>
          <a:stretch>
            <a:fillRect/>
          </a:stretch>
        </p:blipFill>
        <p:spPr>
          <a:xfrm>
            <a:off x="7877374" y="1679000"/>
            <a:ext cx="1266625" cy="1888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Một số mô hình sử dụng BPE</a:t>
            </a:r>
            <a:endParaRPr/>
          </a:p>
          <a:p>
            <a:pPr indent="0" lvl="0" marL="0" rtl="0" algn="l">
              <a:spcBef>
                <a:spcPts val="0"/>
              </a:spcBef>
              <a:spcAft>
                <a:spcPts val="0"/>
              </a:spcAft>
              <a:buNone/>
            </a:pPr>
            <a:r>
              <a:t/>
            </a:r>
            <a:endParaRPr/>
          </a:p>
        </p:txBody>
      </p:sp>
      <p:sp>
        <p:nvSpPr>
          <p:cNvPr id="117" name="Google Shape;117;p22"/>
          <p:cNvSpPr txBox="1"/>
          <p:nvPr>
            <p:ph idx="1" type="body"/>
          </p:nvPr>
        </p:nvSpPr>
        <p:spPr>
          <a:xfrm>
            <a:off x="311700" y="1152475"/>
            <a:ext cx="60513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500">
                <a:solidFill>
                  <a:schemeClr val="dk1"/>
                </a:solidFill>
              </a:rPr>
              <a:t>OpenAI GPT</a:t>
            </a:r>
            <a:endParaRPr b="1" sz="1500">
              <a:solidFill>
                <a:schemeClr val="dk1"/>
              </a:solidFill>
            </a:endParaRPr>
          </a:p>
          <a:p>
            <a:pPr indent="0" lvl="0" marL="701040" rtl="0" algn="l">
              <a:lnSpc>
                <a:spcPct val="115000"/>
              </a:lnSpc>
              <a:spcBef>
                <a:spcPts val="0"/>
              </a:spcBef>
              <a:spcAft>
                <a:spcPts val="0"/>
              </a:spcAft>
              <a:buClr>
                <a:schemeClr val="dk1"/>
              </a:buClr>
              <a:buSzPts val="1100"/>
              <a:buFont typeface="Arial"/>
              <a:buNone/>
            </a:pPr>
            <a:r>
              <a:rPr lang="en-GB" sz="1500">
                <a:solidFill>
                  <a:schemeClr val="dk1"/>
                </a:solidFill>
              </a:rPr>
              <a:t>GPT-2 và GPT-3, các mô hình dự đoán các ngôn ngữ của OpenAI, cũng sử dụng BPE để chia nhỏ các từ thành các đơn vị nhỏ hơn. Điều này xử lý các từ mới hoặc hiếm một cách hiệu quả.</a:t>
            </a:r>
            <a:endParaRPr sz="1500">
              <a:solidFill>
                <a:schemeClr val="dk1"/>
              </a:solidFill>
            </a:endParaRPr>
          </a:p>
          <a:p>
            <a:pPr indent="-323850" lvl="0" marL="457200" rtl="0" algn="l">
              <a:lnSpc>
                <a:spcPct val="107916"/>
              </a:lnSpc>
              <a:spcBef>
                <a:spcPts val="0"/>
              </a:spcBef>
              <a:spcAft>
                <a:spcPts val="0"/>
              </a:spcAft>
              <a:buClr>
                <a:schemeClr val="dk1"/>
              </a:buClr>
              <a:buSzPts val="1500"/>
              <a:buChar char="●"/>
            </a:pPr>
            <a:r>
              <a:rPr lang="en-GB" sz="1500">
                <a:solidFill>
                  <a:schemeClr val="dk1"/>
                </a:solidFill>
              </a:rPr>
              <a:t>VD:</a:t>
            </a:r>
            <a:r>
              <a:rPr lang="en-GB" sz="1500">
                <a:solidFill>
                  <a:schemeClr val="dk1"/>
                </a:solidFill>
                <a:highlight>
                  <a:srgbClr val="FFFFFF"/>
                </a:highlight>
              </a:rPr>
              <a:t> </a:t>
            </a:r>
            <a:r>
              <a:rPr lang="en-GB" sz="1500">
                <a:solidFill>
                  <a:schemeClr val="dk1"/>
                </a:solidFill>
              </a:rPr>
              <a:t>Câu: "Tôi sẽ học Toán."</a:t>
            </a:r>
            <a:endParaRPr sz="1500">
              <a:solidFill>
                <a:schemeClr val="dk1"/>
              </a:solidFill>
            </a:endParaRPr>
          </a:p>
          <a:p>
            <a:pPr indent="0" lvl="0" marL="701040" rtl="0" algn="l">
              <a:lnSpc>
                <a:spcPct val="100000"/>
              </a:lnSpc>
              <a:spcBef>
                <a:spcPts val="800"/>
              </a:spcBef>
              <a:spcAft>
                <a:spcPts val="0"/>
              </a:spcAft>
              <a:buClr>
                <a:schemeClr val="dk1"/>
              </a:buClr>
              <a:buSzPts val="1100"/>
              <a:buFont typeface="Arial"/>
              <a:buNone/>
            </a:pPr>
            <a:r>
              <a:rPr lang="en-GB" sz="1500">
                <a:solidFill>
                  <a:schemeClr val="dk1"/>
                </a:solidFill>
              </a:rPr>
              <a:t>GPT-3 sẽ chia nhỏ câu này thành:</a:t>
            </a:r>
            <a:endParaRPr sz="1500">
              <a:solidFill>
                <a:schemeClr val="dk1"/>
              </a:solidFill>
            </a:endParaRPr>
          </a:p>
          <a:p>
            <a:pPr indent="0" lvl="0" marL="701040" rtl="0" algn="l">
              <a:lnSpc>
                <a:spcPct val="100000"/>
              </a:lnSpc>
              <a:spcBef>
                <a:spcPts val="0"/>
              </a:spcBef>
              <a:spcAft>
                <a:spcPts val="0"/>
              </a:spcAft>
              <a:buClr>
                <a:schemeClr val="dk1"/>
              </a:buClr>
              <a:buSzPts val="1100"/>
              <a:buFont typeface="Arial"/>
              <a:buNone/>
            </a:pPr>
            <a:r>
              <a:rPr lang="en-GB" sz="1500">
                <a:solidFill>
                  <a:schemeClr val="dk1"/>
                </a:solidFill>
              </a:rPr>
              <a:t>"Tôi", "sẽ", "học", "Toán".</a:t>
            </a:r>
            <a:endParaRPr sz="1500">
              <a:solidFill>
                <a:schemeClr val="dk1"/>
              </a:solidFill>
            </a:endParaRPr>
          </a:p>
          <a:p>
            <a:pPr indent="0" lvl="0" marL="701040" rtl="0" algn="l">
              <a:lnSpc>
                <a:spcPct val="100000"/>
              </a:lnSpc>
              <a:spcBef>
                <a:spcPts val="0"/>
              </a:spcBef>
              <a:spcAft>
                <a:spcPts val="0"/>
              </a:spcAft>
              <a:buClr>
                <a:schemeClr val="dk1"/>
              </a:buClr>
              <a:buSzPts val="1100"/>
              <a:buFont typeface="Arial"/>
              <a:buNone/>
            </a:pPr>
            <a:r>
              <a:rPr lang="en-GB" sz="1500">
                <a:solidFill>
                  <a:schemeClr val="dk1"/>
                </a:solidFill>
              </a:rPr>
              <a:t>Nếu gặp câu mới: "Tôi đang làm bài tập về nhà"</a:t>
            </a:r>
            <a:endParaRPr sz="1500">
              <a:solidFill>
                <a:schemeClr val="dk1"/>
              </a:solidFill>
            </a:endParaRPr>
          </a:p>
          <a:p>
            <a:pPr indent="0" lvl="0" marL="701040" rtl="0" algn="l">
              <a:lnSpc>
                <a:spcPct val="100000"/>
              </a:lnSpc>
              <a:spcBef>
                <a:spcPts val="0"/>
              </a:spcBef>
              <a:spcAft>
                <a:spcPts val="0"/>
              </a:spcAft>
              <a:buClr>
                <a:schemeClr val="dk1"/>
              </a:buClr>
              <a:buSzPts val="1100"/>
              <a:buFont typeface="Arial"/>
              <a:buNone/>
            </a:pPr>
            <a:r>
              <a:t/>
            </a:r>
            <a:endParaRPr sz="1500">
              <a:solidFill>
                <a:schemeClr val="dk1"/>
              </a:solidFill>
            </a:endParaRPr>
          </a:p>
          <a:p>
            <a:pPr indent="0" lvl="0" marL="701040" rtl="0" algn="l">
              <a:lnSpc>
                <a:spcPct val="100000"/>
              </a:lnSpc>
              <a:spcBef>
                <a:spcPts val="0"/>
              </a:spcBef>
              <a:spcAft>
                <a:spcPts val="0"/>
              </a:spcAft>
              <a:buClr>
                <a:schemeClr val="dk1"/>
              </a:buClr>
              <a:buSzPts val="1100"/>
              <a:buFont typeface="Arial"/>
              <a:buNone/>
            </a:pPr>
            <a:r>
              <a:rPr lang="en-GB" sz="1500">
                <a:solidFill>
                  <a:schemeClr val="dk1"/>
                </a:solidFill>
              </a:rPr>
              <a:t>"Tôi", "đang", "làm", "bài", "tập", "về", "nhà".</a:t>
            </a:r>
            <a:endParaRPr sz="1500">
              <a:solidFill>
                <a:schemeClr val="dk1"/>
              </a:solidFill>
            </a:endParaRPr>
          </a:p>
          <a:p>
            <a:pPr indent="0" lvl="0" marL="701040" rtl="0" algn="l">
              <a:lnSpc>
                <a:spcPct val="100000"/>
              </a:lnSpc>
              <a:spcBef>
                <a:spcPts val="0"/>
              </a:spcBef>
              <a:spcAft>
                <a:spcPts val="0"/>
              </a:spcAft>
              <a:buClr>
                <a:schemeClr val="dk1"/>
              </a:buClr>
              <a:buSzPts val="1100"/>
              <a:buFont typeface="Arial"/>
              <a:buNone/>
            </a:pPr>
            <a:r>
              <a:rPr lang="en-GB" sz="1500">
                <a:solidFill>
                  <a:schemeClr val="dk1"/>
                </a:solidFill>
              </a:rPr>
              <a:t>Subword units "tập", "về", và "nhà" có thể được tạo ra từ quá trình BPE.</a:t>
            </a:r>
            <a:endParaRPr sz="1500">
              <a:solidFill>
                <a:schemeClr val="dk1"/>
              </a:solidFill>
            </a:endParaRPr>
          </a:p>
          <a:p>
            <a:pPr indent="0" lvl="0" marL="701040" rtl="0" algn="l">
              <a:lnSpc>
                <a:spcPct val="115000"/>
              </a:lnSpc>
              <a:spcBef>
                <a:spcPts val="0"/>
              </a:spcBef>
              <a:spcAft>
                <a:spcPts val="0"/>
              </a:spcAft>
              <a:buClr>
                <a:schemeClr val="dk1"/>
              </a:buClr>
              <a:buSzPts val="1100"/>
              <a:buFont typeface="Arial"/>
              <a:buNone/>
            </a:pPr>
            <a:r>
              <a:t/>
            </a:r>
            <a:endParaRPr sz="1500">
              <a:solidFill>
                <a:schemeClr val="dk1"/>
              </a:solidFill>
            </a:endParaRPr>
          </a:p>
          <a:p>
            <a:pPr indent="0" lvl="0" marL="0" rtl="0" algn="l">
              <a:spcBef>
                <a:spcPts val="0"/>
              </a:spcBef>
              <a:spcAft>
                <a:spcPts val="1200"/>
              </a:spcAft>
              <a:buNone/>
            </a:pPr>
            <a:r>
              <a:t/>
            </a:r>
            <a:endParaRPr sz="1500"/>
          </a:p>
        </p:txBody>
      </p:sp>
      <p:pic>
        <p:nvPicPr>
          <p:cNvPr id="118" name="Google Shape;118;p22"/>
          <p:cNvPicPr preferRelativeResize="0"/>
          <p:nvPr/>
        </p:nvPicPr>
        <p:blipFill>
          <a:blip r:embed="rId3">
            <a:alphaModFix/>
          </a:blip>
          <a:stretch>
            <a:fillRect/>
          </a:stretch>
        </p:blipFill>
        <p:spPr>
          <a:xfrm rot="5400000">
            <a:off x="5886075" y="1846597"/>
            <a:ext cx="3605574" cy="20281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Một số mô hình sử dụng BPE</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24" name="Google Shape;124;p23"/>
          <p:cNvSpPr txBox="1"/>
          <p:nvPr>
            <p:ph idx="1" type="body"/>
          </p:nvPr>
        </p:nvSpPr>
        <p:spPr>
          <a:xfrm>
            <a:off x="311700" y="1152475"/>
            <a:ext cx="76947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500">
                <a:solidFill>
                  <a:schemeClr val="dk1"/>
                </a:solidFill>
              </a:rPr>
              <a:t>MarianMT</a:t>
            </a:r>
            <a:endParaRPr b="1" sz="1500">
              <a:solidFill>
                <a:schemeClr val="dk1"/>
              </a:solidFill>
            </a:endParaRPr>
          </a:p>
          <a:p>
            <a:pPr indent="0" lvl="0" marL="701040" rtl="0" algn="l">
              <a:lnSpc>
                <a:spcPct val="115000"/>
              </a:lnSpc>
              <a:spcBef>
                <a:spcPts val="0"/>
              </a:spcBef>
              <a:spcAft>
                <a:spcPts val="0"/>
              </a:spcAft>
              <a:buNone/>
            </a:pPr>
            <a:r>
              <a:rPr lang="en-GB" sz="1500">
                <a:solidFill>
                  <a:schemeClr val="dk1"/>
                </a:solidFill>
              </a:rPr>
              <a:t>MarianMT là một công cụ dịch máy đa ngôn ngữ được phát triển bởi Microsoft, sử dụng BPE để cải thiện khả năng dịch các từ và cụm từ hiếm.</a:t>
            </a:r>
            <a:endParaRPr sz="1500">
              <a:solidFill>
                <a:schemeClr val="dk1"/>
              </a:solidFill>
            </a:endParaRPr>
          </a:p>
          <a:p>
            <a:pPr indent="-323850" lvl="0" marL="457200" rtl="0" algn="l">
              <a:lnSpc>
                <a:spcPct val="107916"/>
              </a:lnSpc>
              <a:spcBef>
                <a:spcPts val="0"/>
              </a:spcBef>
              <a:spcAft>
                <a:spcPts val="0"/>
              </a:spcAft>
              <a:buClr>
                <a:schemeClr val="dk1"/>
              </a:buClr>
              <a:buSzPts val="1500"/>
              <a:buChar char="●"/>
            </a:pPr>
            <a:r>
              <a:rPr lang="en-GB" sz="1500">
                <a:solidFill>
                  <a:schemeClr val="dk1"/>
                </a:solidFill>
              </a:rPr>
              <a:t>VD:</a:t>
            </a:r>
            <a:r>
              <a:rPr lang="en-GB" sz="1500">
                <a:solidFill>
                  <a:schemeClr val="dk1"/>
                </a:solidFill>
                <a:highlight>
                  <a:srgbClr val="FFFFFF"/>
                </a:highlight>
              </a:rPr>
              <a:t> </a:t>
            </a:r>
            <a:endParaRPr sz="1500">
              <a:solidFill>
                <a:schemeClr val="dk1"/>
              </a:solidFill>
              <a:highlight>
                <a:srgbClr val="FFFFFF"/>
              </a:highlight>
            </a:endParaRPr>
          </a:p>
          <a:p>
            <a:pPr indent="0" lvl="0" marL="701040" rtl="0" algn="l">
              <a:lnSpc>
                <a:spcPct val="107916"/>
              </a:lnSpc>
              <a:spcBef>
                <a:spcPts val="800"/>
              </a:spcBef>
              <a:spcAft>
                <a:spcPts val="0"/>
              </a:spcAft>
              <a:buNone/>
            </a:pPr>
            <a:r>
              <a:rPr lang="en-GB" sz="1500">
                <a:solidFill>
                  <a:schemeClr val="dk1"/>
                </a:solidFill>
              </a:rPr>
              <a:t>Câu cần dịch: "Tôi là một người đa nghi."</a:t>
            </a:r>
            <a:endParaRPr sz="1500">
              <a:solidFill>
                <a:schemeClr val="dk1"/>
              </a:solidFill>
            </a:endParaRPr>
          </a:p>
          <a:p>
            <a:pPr indent="0" lvl="0" marL="701040" rtl="0" algn="l">
              <a:lnSpc>
                <a:spcPct val="100000"/>
              </a:lnSpc>
              <a:spcBef>
                <a:spcPts val="800"/>
              </a:spcBef>
              <a:spcAft>
                <a:spcPts val="0"/>
              </a:spcAft>
              <a:buNone/>
            </a:pPr>
            <a:r>
              <a:rPr lang="en-GB" sz="1500">
                <a:solidFill>
                  <a:schemeClr val="dk1"/>
                </a:solidFill>
              </a:rPr>
              <a:t>MarianMT sẽ chia câu này thành các subword units:</a:t>
            </a:r>
            <a:endParaRPr sz="1500">
              <a:solidFill>
                <a:schemeClr val="dk1"/>
              </a:solidFill>
            </a:endParaRPr>
          </a:p>
          <a:p>
            <a:pPr indent="0" lvl="0" marL="701040" rtl="0" algn="l">
              <a:lnSpc>
                <a:spcPct val="100000"/>
              </a:lnSpc>
              <a:spcBef>
                <a:spcPts val="0"/>
              </a:spcBef>
              <a:spcAft>
                <a:spcPts val="0"/>
              </a:spcAft>
              <a:buNone/>
            </a:pPr>
            <a:r>
              <a:rPr lang="en-GB" sz="1500">
                <a:solidFill>
                  <a:schemeClr val="dk1"/>
                </a:solidFill>
              </a:rPr>
              <a:t>"Tôi", "là", "một", "người", "đa", "nghi".</a:t>
            </a:r>
            <a:endParaRPr sz="1500">
              <a:solidFill>
                <a:schemeClr val="dk1"/>
              </a:solidFill>
            </a:endParaRPr>
          </a:p>
          <a:p>
            <a:pPr indent="0" lvl="0" marL="701040" rtl="0" algn="l">
              <a:lnSpc>
                <a:spcPct val="100000"/>
              </a:lnSpc>
              <a:spcBef>
                <a:spcPts val="0"/>
              </a:spcBef>
              <a:spcAft>
                <a:spcPts val="0"/>
              </a:spcAft>
              <a:buNone/>
            </a:pPr>
            <a:r>
              <a:rPr lang="en-GB" sz="1500">
                <a:solidFill>
                  <a:schemeClr val="dk1"/>
                </a:solidFill>
              </a:rPr>
              <a:t>Khi gặp từ mới trong câu: "Tôi sẽ du lịch vào mùa hè này"</a:t>
            </a:r>
            <a:endParaRPr sz="1500">
              <a:solidFill>
                <a:schemeClr val="dk1"/>
              </a:solidFill>
            </a:endParaRPr>
          </a:p>
          <a:p>
            <a:pPr indent="0" lvl="0" marL="701040" rtl="0" algn="l">
              <a:lnSpc>
                <a:spcPct val="100000"/>
              </a:lnSpc>
              <a:spcBef>
                <a:spcPts val="0"/>
              </a:spcBef>
              <a:spcAft>
                <a:spcPts val="0"/>
              </a:spcAft>
              <a:buNone/>
            </a:pPr>
            <a:r>
              <a:rPr lang="en-GB" sz="1500">
                <a:solidFill>
                  <a:schemeClr val="dk1"/>
                </a:solidFill>
              </a:rPr>
              <a:t>"Tôi", "sẽ", "du", "lịch", "vào", "mùa", "hè", "này".</a:t>
            </a:r>
            <a:endParaRPr sz="1500">
              <a:solidFill>
                <a:schemeClr val="dk1"/>
              </a:solidFill>
            </a:endParaRPr>
          </a:p>
          <a:p>
            <a:pPr indent="0" lvl="0" marL="701040" rtl="0" algn="l">
              <a:lnSpc>
                <a:spcPct val="100000"/>
              </a:lnSpc>
              <a:spcBef>
                <a:spcPts val="0"/>
              </a:spcBef>
              <a:spcAft>
                <a:spcPts val="0"/>
              </a:spcAft>
              <a:buClr>
                <a:schemeClr val="dk1"/>
              </a:buClr>
              <a:buSzPts val="1100"/>
              <a:buFont typeface="Arial"/>
              <a:buNone/>
            </a:pPr>
            <a:r>
              <a:rPr lang="en-GB" sz="1500">
                <a:solidFill>
                  <a:schemeClr val="dk1"/>
                </a:solidFill>
              </a:rPr>
              <a:t>Subword units "du" và "lịch" được tạo ra, giúp hệ thống dịch chính xác hơn.</a:t>
            </a:r>
            <a:endParaRPr sz="1500">
              <a:solidFill>
                <a:schemeClr val="dk1"/>
              </a:solidFill>
            </a:endParaRPr>
          </a:p>
        </p:txBody>
      </p:sp>
      <p:pic>
        <p:nvPicPr>
          <p:cNvPr id="125" name="Google Shape;125;p23"/>
          <p:cNvPicPr preferRelativeResize="0"/>
          <p:nvPr/>
        </p:nvPicPr>
        <p:blipFill>
          <a:blip r:embed="rId3">
            <a:alphaModFix/>
          </a:blip>
          <a:stretch>
            <a:fillRect/>
          </a:stretch>
        </p:blipFill>
        <p:spPr>
          <a:xfrm rot="5400000">
            <a:off x="6377100" y="2474775"/>
            <a:ext cx="4017527" cy="1103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GRAMMAR CORRECTION</a:t>
            </a:r>
            <a:endParaRPr/>
          </a:p>
        </p:txBody>
      </p:sp>
      <p:sp>
        <p:nvSpPr>
          <p:cNvPr id="131" name="Google Shape;13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AutoNum type="arabicPeriod"/>
            </a:pPr>
            <a:r>
              <a:rPr lang="en-GB" sz="1400">
                <a:solidFill>
                  <a:schemeClr val="dk1"/>
                </a:solidFill>
              </a:rPr>
              <a:t>Thu thập và xử lý dữ liệu:</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Nguồn dữ liệu: </a:t>
            </a:r>
            <a:r>
              <a:rPr lang="en-GB" u="sng">
                <a:solidFill>
                  <a:srgbClr val="1155CC"/>
                </a:solidFill>
                <a:hlinkClick r:id="rId3">
                  <a:extLst>
                    <a:ext uri="{A12FA001-AC4F-418D-AE19-62706E023703}">
                      <ahyp:hlinkClr val="tx"/>
                    </a:ext>
                  </a:extLst>
                </a:hlinkClick>
              </a:rPr>
              <a:t>binhvq/news-corpus: Corpus tiếng việt (github.com)</a:t>
            </a:r>
            <a:endParaRPr>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Dữ liệu: </a:t>
            </a:r>
            <a:r>
              <a:rPr lang="en-GB" u="sng">
                <a:solidFill>
                  <a:srgbClr val="1155CC"/>
                </a:solidFill>
                <a:hlinkClick r:id="rId4">
                  <a:extLst>
                    <a:ext uri="{A12FA001-AC4F-418D-AE19-62706E023703}">
                      <ahyp:hlinkClr val="tx"/>
                    </a:ext>
                  </a:extLst>
                </a:hlinkClick>
              </a:rPr>
              <a:t>Title Only </a:t>
            </a:r>
            <a:endParaRPr>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Mô tả dữ liệu: Trích xuất từ khoảng 14.896.998 bài báo trên internet.</a:t>
            </a:r>
            <a:endParaRPr>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Cách thức xử lý dữ liệu:</a:t>
            </a:r>
            <a:endParaRPr>
              <a:solidFill>
                <a:schemeClr val="dk1"/>
              </a:solidFill>
            </a:endParaRPr>
          </a:p>
          <a:p>
            <a:pPr indent="-317500" lvl="0" marL="1371600" rtl="0" algn="l">
              <a:spcBef>
                <a:spcPts val="0"/>
              </a:spcBef>
              <a:spcAft>
                <a:spcPts val="0"/>
              </a:spcAft>
              <a:buClr>
                <a:schemeClr val="dk1"/>
              </a:buClr>
              <a:buSzPts val="1400"/>
              <a:buChar char="●"/>
            </a:pPr>
            <a:r>
              <a:rPr lang="en-GB" sz="1400">
                <a:solidFill>
                  <a:schemeClr val="dk1"/>
                </a:solidFill>
              </a:rPr>
              <a:t>Chiết xuất dữ liệu text từ corpus dưới dạng kiểu dữ liệu là một list chứa những chuỗi ký tự.</a:t>
            </a:r>
            <a:endParaRPr sz="1400">
              <a:solidFill>
                <a:schemeClr val="dk1"/>
              </a:solidFill>
            </a:endParaRPr>
          </a:p>
          <a:p>
            <a:pPr indent="-317500" lvl="0" marL="1371600" rtl="0" algn="l">
              <a:spcBef>
                <a:spcPts val="0"/>
              </a:spcBef>
              <a:spcAft>
                <a:spcPts val="0"/>
              </a:spcAft>
              <a:buClr>
                <a:schemeClr val="dk1"/>
              </a:buClr>
              <a:buSzPts val="1400"/>
              <a:buChar char="●"/>
            </a:pPr>
            <a:r>
              <a:rPr lang="en-GB" sz="1400">
                <a:solidFill>
                  <a:schemeClr val="dk1"/>
                </a:solidFill>
              </a:rPr>
              <a:t>Chọn ngẫu nhiên 1 trong 4 function gây ra lỗi chính tả (xóa dấu cách, xóa dấu chữ cái, thay đổi dấu chữ cái, ngẫu nhiên thay đổi chữ cái) sau đó áp dụng vào chuỗi để lấy làm input.</a:t>
            </a:r>
            <a:endParaRPr sz="1400">
              <a:solidFill>
                <a:schemeClr val="dk1"/>
              </a:solidFill>
            </a:endParaRPr>
          </a:p>
          <a:p>
            <a:pPr indent="-317500" lvl="0" marL="1371600" rtl="0" algn="l">
              <a:spcBef>
                <a:spcPts val="0"/>
              </a:spcBef>
              <a:spcAft>
                <a:spcPts val="0"/>
              </a:spcAft>
              <a:buClr>
                <a:schemeClr val="dk1"/>
              </a:buClr>
              <a:buSzPts val="1400"/>
              <a:buChar char="●"/>
            </a:pPr>
            <a:r>
              <a:rPr lang="en-GB" sz="1400">
                <a:solidFill>
                  <a:schemeClr val="dk1"/>
                </a:solidFill>
              </a:rPr>
              <a:t>Nhận được input (chuỗi bị sai chính tả) và target (chuỗi đúng chính tả).</a:t>
            </a:r>
            <a:endParaRPr sz="1400">
              <a:solidFill>
                <a:schemeClr val="dk1"/>
              </a:solidFill>
            </a:endParaRPr>
          </a:p>
          <a:p>
            <a:pPr indent="-317500" lvl="0" marL="1371600" rtl="0" algn="l">
              <a:spcBef>
                <a:spcPts val="0"/>
              </a:spcBef>
              <a:spcAft>
                <a:spcPts val="0"/>
              </a:spcAft>
              <a:buClr>
                <a:schemeClr val="dk1"/>
              </a:buClr>
              <a:buSzPts val="1400"/>
              <a:buChar char="●"/>
            </a:pPr>
            <a:r>
              <a:rPr lang="en-GB" sz="1400">
                <a:solidFill>
                  <a:schemeClr val="dk1"/>
                </a:solidFill>
              </a:rPr>
              <a:t>Chọn ngẫu nhiên một số cặp input và target làm tập train, số còn lại làm tập test.</a:t>
            </a:r>
            <a:endParaRPr sz="2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GRAMMAR CORRECTION</a:t>
            </a:r>
            <a:endParaRPr/>
          </a:p>
          <a:p>
            <a:pPr indent="0" lvl="0" marL="0" rtl="0" algn="l">
              <a:spcBef>
                <a:spcPts val="0"/>
              </a:spcBef>
              <a:spcAft>
                <a:spcPts val="0"/>
              </a:spcAft>
              <a:buNone/>
            </a:pPr>
            <a:r>
              <a:t/>
            </a:r>
            <a:endParaRPr/>
          </a:p>
        </p:txBody>
      </p:sp>
      <p:sp>
        <p:nvSpPr>
          <p:cNvPr id="137" name="Google Shape;137;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chemeClr val="dk1"/>
                </a:solidFill>
              </a:rPr>
              <a:t>2.	 Lựa chọn mô hình, cách thức hoạt động của mô hình:</a:t>
            </a:r>
            <a:endParaRPr sz="1400">
              <a:solidFill>
                <a:schemeClr val="dk1"/>
              </a:solidFill>
            </a:endParaRPr>
          </a:p>
          <a:p>
            <a:pPr indent="-317500" lvl="0" marL="1371600" rtl="0" algn="l">
              <a:spcBef>
                <a:spcPts val="0"/>
              </a:spcBef>
              <a:spcAft>
                <a:spcPts val="0"/>
              </a:spcAft>
              <a:buClr>
                <a:schemeClr val="dk1"/>
              </a:buClr>
              <a:buSzPts val="1400"/>
              <a:buChar char="●"/>
            </a:pPr>
            <a:r>
              <a:rPr lang="en-GB" sz="1400">
                <a:solidFill>
                  <a:schemeClr val="dk1"/>
                </a:solidFill>
              </a:rPr>
              <a:t>Chúng em xem bài toán sửa lỗi chính tả như một bài toán dịch máy, với những lỗi chính tả tương ứng với một từ đúng.</a:t>
            </a:r>
            <a:endParaRPr sz="1400">
              <a:solidFill>
                <a:schemeClr val="dk1"/>
              </a:solidFill>
            </a:endParaRPr>
          </a:p>
          <a:p>
            <a:pPr indent="-317500" lvl="0" marL="1371600" rtl="0" algn="l">
              <a:spcBef>
                <a:spcPts val="0"/>
              </a:spcBef>
              <a:spcAft>
                <a:spcPts val="0"/>
              </a:spcAft>
              <a:buClr>
                <a:schemeClr val="dk1"/>
              </a:buClr>
              <a:buSzPts val="1400"/>
              <a:buChar char="●"/>
            </a:pPr>
            <a:r>
              <a:rPr lang="en-GB" sz="1400">
                <a:solidFill>
                  <a:schemeClr val="dk1"/>
                </a:solidFill>
              </a:rPr>
              <a:t>Để có thể tiện fine-tuning một mô hình theo kiểu dịch máy, chúng em lựa chọn </a:t>
            </a:r>
            <a:r>
              <a:rPr lang="en-GB" sz="1400" u="sng">
                <a:solidFill>
                  <a:srgbClr val="1155CC"/>
                </a:solidFill>
                <a:hlinkClick r:id="rId3">
                  <a:extLst>
                    <a:ext uri="{A12FA001-AC4F-418D-AE19-62706E023703}">
                      <ahyp:hlinkClr val="tx"/>
                    </a:ext>
                  </a:extLst>
                </a:hlinkClick>
              </a:rPr>
              <a:t>BARTpho</a:t>
            </a:r>
            <a:r>
              <a:rPr lang="en-GB" sz="1400">
                <a:solidFill>
                  <a:schemeClr val="dk1"/>
                </a:solidFill>
              </a:rPr>
              <a:t>, một mô hình pretrained kiểu Seq2Seq.</a:t>
            </a:r>
            <a:endParaRPr sz="1400">
              <a:solidFill>
                <a:schemeClr val="dk1"/>
              </a:solidFill>
            </a:endParaRPr>
          </a:p>
          <a:p>
            <a:pPr indent="-317500" lvl="0" marL="1371600" rtl="0" algn="l">
              <a:spcBef>
                <a:spcPts val="0"/>
              </a:spcBef>
              <a:spcAft>
                <a:spcPts val="0"/>
              </a:spcAft>
              <a:buClr>
                <a:schemeClr val="dk1"/>
              </a:buClr>
              <a:buSzPts val="1400"/>
              <a:buChar char="●"/>
            </a:pPr>
            <a:r>
              <a:rPr lang="en-GB" sz="1400">
                <a:solidFill>
                  <a:schemeClr val="dk1"/>
                </a:solidFill>
              </a:rPr>
              <a:t>Tại sao lại dùng BARTpho: </a:t>
            </a:r>
            <a:endParaRPr sz="1400">
              <a:solidFill>
                <a:schemeClr val="dk1"/>
              </a:solidFill>
            </a:endParaRPr>
          </a:p>
          <a:p>
            <a:pPr indent="-317500" lvl="1" marL="1828800" rtl="0" algn="l">
              <a:spcBef>
                <a:spcPts val="0"/>
              </a:spcBef>
              <a:spcAft>
                <a:spcPts val="0"/>
              </a:spcAft>
              <a:buClr>
                <a:schemeClr val="dk1"/>
              </a:buClr>
              <a:buSzPts val="1400"/>
              <a:buChar char="○"/>
            </a:pPr>
            <a:r>
              <a:rPr lang="en-GB">
                <a:solidFill>
                  <a:schemeClr val="dk1"/>
                </a:solidFill>
              </a:rPr>
              <a:t>Đã được huấn luyện sẵn với ngôn ngữ tiếng Việt.</a:t>
            </a:r>
            <a:endParaRPr>
              <a:solidFill>
                <a:schemeClr val="dk1"/>
              </a:solidFill>
            </a:endParaRPr>
          </a:p>
          <a:p>
            <a:pPr indent="-317500" lvl="1" marL="1828800" rtl="0" algn="l">
              <a:spcBef>
                <a:spcPts val="0"/>
              </a:spcBef>
              <a:spcAft>
                <a:spcPts val="0"/>
              </a:spcAft>
              <a:buClr>
                <a:schemeClr val="dk1"/>
              </a:buClr>
              <a:buSzPts val="1400"/>
              <a:buChar char="○"/>
            </a:pPr>
            <a:r>
              <a:rPr lang="en-GB">
                <a:solidFill>
                  <a:schemeClr val="dk1"/>
                </a:solidFill>
              </a:rPr>
              <a:t>Đã được trang bị sẵn với vocabulary rộng lớn và phương thức tokenizer mạnh mẽ.</a:t>
            </a:r>
            <a:endParaRPr>
              <a:solidFill>
                <a:schemeClr val="dk1"/>
              </a:solidFill>
            </a:endParaRPr>
          </a:p>
          <a:p>
            <a:pPr indent="-317500" lvl="1" marL="1828800" rtl="0" algn="l">
              <a:spcBef>
                <a:spcPts val="0"/>
              </a:spcBef>
              <a:spcAft>
                <a:spcPts val="0"/>
              </a:spcAft>
              <a:buClr>
                <a:schemeClr val="dk1"/>
              </a:buClr>
              <a:buSzPts val="1400"/>
              <a:buChar char="○"/>
            </a:pPr>
            <a:r>
              <a:rPr lang="en-GB">
                <a:solidFill>
                  <a:schemeClr val="dk1"/>
                </a:solidFill>
              </a:rPr>
              <a:t>Có document đơn giản, dễ hiểu, sinh động, chi tiết và rõ ràng.</a:t>
            </a:r>
            <a:endParaRPr>
              <a:solidFill>
                <a:schemeClr val="dk1"/>
              </a:solidFill>
            </a:endParaRPr>
          </a:p>
          <a:p>
            <a:pPr indent="-317500" lvl="1" marL="1828800" rtl="0" algn="l">
              <a:spcBef>
                <a:spcPts val="0"/>
              </a:spcBef>
              <a:spcAft>
                <a:spcPts val="0"/>
              </a:spcAft>
              <a:buClr>
                <a:schemeClr val="dk1"/>
              </a:buClr>
              <a:buSzPts val="1400"/>
              <a:buChar char="○"/>
            </a:pPr>
            <a:r>
              <a:rPr lang="en-GB">
                <a:solidFill>
                  <a:schemeClr val="dk1"/>
                </a:solidFill>
              </a:rPr>
              <a:t>Là sản phẩm tự hào của người Việt.</a:t>
            </a:r>
            <a:endParaRPr>
              <a:solidFill>
                <a:schemeClr val="dk1"/>
              </a:solidFill>
            </a:endParaRPr>
          </a:p>
          <a:p>
            <a:pPr indent="0" lvl="0" marL="0" rtl="0" algn="l">
              <a:spcBef>
                <a:spcPts val="0"/>
              </a:spcBef>
              <a:spcAft>
                <a:spcPts val="1200"/>
              </a:spcAft>
              <a:buNone/>
            </a:pPr>
            <a:r>
              <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GRAMMAR CORRECTION</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43" name="Google Shape;14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3.	Đánh giá độ chính xác:</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17500" lvl="0" marL="457200" rtl="0" algn="l">
              <a:spcBef>
                <a:spcPts val="1200"/>
              </a:spcBef>
              <a:spcAft>
                <a:spcPts val="0"/>
              </a:spcAft>
              <a:buClr>
                <a:schemeClr val="dk1"/>
              </a:buClr>
              <a:buSzPts val="1400"/>
              <a:buChar char="●"/>
            </a:pPr>
            <a:r>
              <a:rPr lang="en-GB" sz="1400">
                <a:solidFill>
                  <a:schemeClr val="dk1"/>
                </a:solidFill>
              </a:rPr>
              <a:t>Mô hình được đánh giá sau khi fine-tune</a:t>
            </a:r>
            <a:endParaRPr sz="1400">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Lần 1 với 8000 dòng dữ liệu train và 50 epoch.</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Lần 2 với 4000 dòng dữ liệu train và 50 epoch.</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Eval với 4000 dòng dữ liệu với tỉ lệ xuất hiện lỗi chính tả được set bằng 0.3.</a:t>
            </a:r>
            <a:endParaRPr sz="1700"/>
          </a:p>
        </p:txBody>
      </p:sp>
      <p:pic>
        <p:nvPicPr>
          <p:cNvPr id="144" name="Google Shape;144;p26"/>
          <p:cNvPicPr preferRelativeResize="0"/>
          <p:nvPr/>
        </p:nvPicPr>
        <p:blipFill>
          <a:blip r:embed="rId3">
            <a:alphaModFix/>
          </a:blip>
          <a:stretch>
            <a:fillRect/>
          </a:stretch>
        </p:blipFill>
        <p:spPr>
          <a:xfrm>
            <a:off x="811825" y="1653850"/>
            <a:ext cx="5000625" cy="1514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GRAMMAR CORRECTION</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50" name="Google Shape;15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Kết quả thực tiễn sử dụng mô hình:</a:t>
            </a:r>
            <a:endParaRPr/>
          </a:p>
          <a:p>
            <a:pPr indent="-317500" lvl="1" marL="914400" rtl="0" algn="l">
              <a:spcBef>
                <a:spcPts val="0"/>
              </a:spcBef>
              <a:spcAft>
                <a:spcPts val="0"/>
              </a:spcAft>
              <a:buSzPts val="1400"/>
              <a:buChar char="○"/>
            </a:pPr>
            <a:r>
              <a:rPr lang="en-GB"/>
              <a:t>Input:</a:t>
            </a:r>
            <a:endParaRPr/>
          </a:p>
        </p:txBody>
      </p:sp>
      <p:pic>
        <p:nvPicPr>
          <p:cNvPr id="151" name="Google Shape;151;p27"/>
          <p:cNvPicPr preferRelativeResize="0"/>
          <p:nvPr/>
        </p:nvPicPr>
        <p:blipFill>
          <a:blip r:embed="rId3">
            <a:alphaModFix/>
          </a:blip>
          <a:stretch>
            <a:fillRect/>
          </a:stretch>
        </p:blipFill>
        <p:spPr>
          <a:xfrm>
            <a:off x="957938" y="1912225"/>
            <a:ext cx="6924675" cy="2476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GRAMMAR CORRECTION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7" name="Google Shape;15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Kết quả thực tiễn sử dụng mô hình:</a:t>
            </a:r>
            <a:endParaRPr/>
          </a:p>
          <a:p>
            <a:pPr indent="-317500" lvl="1" marL="914400" rtl="0" algn="l">
              <a:spcBef>
                <a:spcPts val="0"/>
              </a:spcBef>
              <a:spcAft>
                <a:spcPts val="0"/>
              </a:spcAft>
              <a:buSzPts val="1400"/>
              <a:buChar char="○"/>
            </a:pPr>
            <a:r>
              <a:rPr lang="en-GB"/>
              <a:t>Output:</a:t>
            </a:r>
            <a:endParaRPr/>
          </a:p>
        </p:txBody>
      </p:sp>
      <p:pic>
        <p:nvPicPr>
          <p:cNvPr id="158" name="Google Shape;158;p28"/>
          <p:cNvPicPr preferRelativeResize="0"/>
          <p:nvPr/>
        </p:nvPicPr>
        <p:blipFill>
          <a:blip r:embed="rId3">
            <a:alphaModFix/>
          </a:blip>
          <a:stretch>
            <a:fillRect/>
          </a:stretch>
        </p:blipFill>
        <p:spPr>
          <a:xfrm>
            <a:off x="847563" y="1965425"/>
            <a:ext cx="6353175" cy="1943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